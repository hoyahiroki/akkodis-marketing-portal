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KKODIS_Logo_POS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2377440" cy="707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659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 UI"/>
                <a:ea typeface="Meiryo UI"/>
              </a:rPr>
              <a:t>AKKODiSマーケティングポータル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 UI"/>
                <a:ea typeface="Meiryo UI"/>
              </a:rPr>
              <a:t>リニューアル提案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FE3F0"/>
                </a:solidFill>
                <a:latin typeface="Meiryo UI"/>
                <a:ea typeface="Meiryo UI"/>
              </a:rPr>
              <a:t>現状課題22件の分析とSharePoint L1既存パーツによる改善方向性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7D1"/>
                </a:solidFill>
                <a:latin typeface="Meiryo UI"/>
                <a:ea typeface="Meiryo UI"/>
              </a:rPr>
              <a:t>AsIs / ToBe 対比資料　―　デザイン部署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CA0AC"/>
                </a:solidFill>
                <a:latin typeface="Meiryo UI"/>
                <a:ea typeface="Meiryo UI"/>
              </a:rPr>
              <a:t>社外秘（Confidential）— AKKODiSコンサルティング株式会社 マーケティング部内限り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A0AC"/>
                </a:solidFill>
                <a:latin typeface="Meiryo UI"/>
                <a:ea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エグゼクティブサマリー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現状分析（docs/01）とSharePoint実装マッピング（docs/02）の要点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現状課題 22件の内訳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トップ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T-1〜T-4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4件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0552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ブランドライブラリ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3704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B-1〜B-7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3704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7件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41064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6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クライアント向け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6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C-1〜C-3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6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3件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キャンディデート向け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CA-1〜CA-2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2件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552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03704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パートナーシップ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03704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P-1〜P-2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3704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2件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41064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14216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横断課題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6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G-1〜G-4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4216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4件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269748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最重要3課題（優先着手）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971800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971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B-1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2971800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ブランドライブラリの情報過多・ページ内ナビ欠如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3191256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直近30日で最も使われる実働ページ（重複しない閲覧者数319名）かつユーザー指摘に完全一致。改善効果が最も広く届く。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630168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630168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G-2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3630168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ポータル内検索性の弱さ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3849624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「見つからない→メール検索」という核心症状の根本原因。標準検索はあるがページ内の絞り込み・ファセットが無い。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288536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2885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CA-1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288536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資料が「各チームに直接連絡」で完結し入手不可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4507992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ポータルがメール検索を誘発している典型例。直リンク／保管場所の明示で即改善可能なクイックウィン。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960120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改善アプローチ：方針転換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243584"/>
            <a:ext cx="5532120" cy="91440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1325880"/>
            <a:ext cx="5257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初版は「AI機能ありき」で設計していたが、社長差戻し（SharePoint実装マスト）を受け優先順位を反転。「SharePoint既存パーツ（L1）で今すぐ作れるもの」を起点に据え、それを超える機能（AI-1〜AI-6等）は実装階層L1〜L4を明示してライセンス・費用判断に切り出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2331720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MVP（L1・4点）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2606040"/>
            <a:ext cx="5532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キャンディデート資料の直リンク化（CA-1／クイックウィン）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ブランドライブラリ再構成＋ページ内ナビ（B-1／B-2）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Microsoft Search 基本＋検索・ハイライトweb part設置（G-2）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ライブラリのメタデータ列・コンテンツタイプ設計（B-4／C-2の土台）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160520"/>
            <a:ext cx="5532120" cy="2103120"/>
          </a:xfrm>
          <a:prstGeom prst="rect">
            <a:avLst/>
          </a:prstGeom>
          <a:solidFill>
            <a:srgbClr val="FBF3E8"/>
          </a:solidFill>
          <a:ln w="12700">
            <a:solidFill>
              <a:srgbClr val="B5762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251960"/>
            <a:ext cx="5212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5518"/>
                </a:solidFill>
                <a:latin typeface="Meiryo UI"/>
                <a:ea typeface="Meiryo UI"/>
              </a:rPr>
              <a:t>本書の位置づけ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526280"/>
            <a:ext cx="5257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333333"/>
                </a:solidFill>
                <a:latin typeface="Meiryo UI"/>
                <a:ea typeface="Meiryo UI"/>
              </a:rPr>
              <a:t>本資料はデザイン部署によるAsIs→ToBe対比の可視化提案であり、実装・費用発生・外部公開の意思決定は含まない。SharePointの機能名・パーツ名は知識カットオフ時点の一般知識に基づく推定を含み、テナントの実ライセンス・管理者ポリシーでの検証（F0）を前提とする。文言未確定箇所（カード説明文・アイコンラベル等）は「（今後定義）」と明記し、創作した具体文言を確定情報のようには見せていない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マーケティング部内限り｜エグゼクティブサマリー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① トップ（ホーム）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対象課題：T-1／T-2／T-3／T-4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top_pc / top_sp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727448"/>
            <a:ext cx="11643055" cy="17830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7731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001768"/>
            <a:ext cx="11368735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840" b="0" i="0">
                <a:solidFill>
                  <a:srgbClr val="333333"/>
                </a:solidFill>
                <a:latin typeface="Meiryo UI"/>
                <a:ea typeface="Meiryo UI"/>
              </a:rPr>
              <a:t>・ T-3：カードに説明文がなく次に何ができるか伝わらない → クイックリンクに1行説明を追加 → 誤クリック・迷いの軽減が期待される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840" b="0" i="0">
                <a:solidFill>
                  <a:srgbClr val="333333"/>
                </a:solidFill>
                <a:latin typeface="Meiryo UI"/>
                <a:ea typeface="Meiryo UI"/>
              </a:rPr>
              <a:t>・ T-4：業務依頼フォームとブランドレビュー手順の使い分けが1画面で判別しづらい → 「よく使う窓口」セクションで2入口を並置し使い分けテキストを添える → 依頼者が正しい窓口へ到達しやすくなることが期待される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840" b="0" i="0">
                <a:solidFill>
                  <a:srgbClr val="333333"/>
                </a:solidFill>
                <a:latin typeface="Meiryo UI"/>
                <a:ea typeface="Meiryo UI"/>
              </a:rPr>
              <a:t>・ T-1：埋め込みダッシュボードがSPで極小枠＋横スクロールとなり判読不能 → 端末別の表示切替の可否はF0/PoCで検証。確実なL1案としてPC/SP共通で主要指標のテキスト要約＋詳細レポートへのリンクを表示 → モバイル利用者にも指標が届きやすくなることが期待される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840" b="0" i="0">
                <a:solidFill>
                  <a:srgbClr val="333333"/>
                </a:solidFill>
                <a:latin typeface="Meiryo UI"/>
                <a:ea typeface="Meiryo UI"/>
              </a:rPr>
              <a:t>・ T-2：組織体制が最下部に沈み情報の優先順位が弱い → ページ内目次にアンカーを追加 → スクロールなしで直接到達可能に</a:t>
            </a:r>
          </a:p>
        </p:txBody>
      </p:sp>
      <p:pic>
        <p:nvPicPr>
          <p:cNvPr id="15" name="Picture 14" descr="asis_top_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256" y="1645920"/>
            <a:ext cx="832601" cy="1901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11197" y="3557016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top_pc.png（①②③）</a:t>
            </a:r>
          </a:p>
        </p:txBody>
      </p:sp>
      <p:pic>
        <p:nvPicPr>
          <p:cNvPr id="17" name="Picture 16" descr="asis_top_sp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97" y="1645920"/>
            <a:ext cx="1361084" cy="19019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3297" y="3557016"/>
            <a:ext cx="13610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top_sp.png 抜粋（④）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8561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02336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T-3　説明文がなくラベルのみで内容が伝わらない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T-4　似た入口が並び使い分けが1画面で判別できない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T-2　探す・依頼する導線より下に組織図が沈む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④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T-1（SP）　モバイルでは極小枠＋横スクロールで数値が読めない</a:t>
            </a:r>
          </a:p>
        </p:txBody>
      </p:sp>
      <p:pic>
        <p:nvPicPr>
          <p:cNvPr id="21" name="Picture 20" descr="tobe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825" y="1645920"/>
            <a:ext cx="2977749" cy="29900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マーケティング部内限り｜① トップ（ホーム）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② ブランドライブラリ（1/2）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対象課題：B-1（最重要）／B-2／B-6／B-5　※直近30日 最多閲覧ページ（319名）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brand_pc（最重要）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13248"/>
            <a:ext cx="11643055" cy="10972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4589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687568"/>
            <a:ext cx="11368735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B-1（最重要）：1ページに全情報を積層しページ内ナビが皆無、目的の情報に辿り着けない → 7項目（案・棚卸し後に確定）のページ内目次を冒頭に新設 → 直近30日で最多利用（319名）のページの到達性が改善し効果が最も広く届く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B-2（重要）：ガイドライン約10本が粒度・目的バラバラにフラット列挙 → 目的軸4カテゴリ（案・棚卸し後に確定）のドキュメントライブラリ＋メタデータ列で束ね直す → 目的の資料への選択時間の短縮が期待される</a:t>
            </a:r>
          </a:p>
        </p:txBody>
      </p:sp>
      <p:pic>
        <p:nvPicPr>
          <p:cNvPr id="15" name="Picture 14" descr="asis_brand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146" y="1645920"/>
            <a:ext cx="461705" cy="2587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39" y="4242816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全体縮尺（B-1）</a:t>
            </a:r>
          </a:p>
        </p:txBody>
      </p:sp>
      <p:pic>
        <p:nvPicPr>
          <p:cNvPr id="17" name="Picture 16" descr="asis_brand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291" y="1645920"/>
            <a:ext cx="2704200" cy="2587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56291" y="4242816"/>
            <a:ext cx="2704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A（①②）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47141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0916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B-1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（最重要）1ページ8000px超に全情報を積層、目次が皆無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B-6　帯見出しと黄色マーカーの装飾が二重で不統一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B-5　ラベルがなく何をするカードか分からない</a:t>
            </a:r>
          </a:p>
        </p:txBody>
      </p:sp>
      <p:pic>
        <p:nvPicPr>
          <p:cNvPr id="21" name="Picture 20" descr="tobe_brand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6622" y="1645920"/>
            <a:ext cx="3606155" cy="36758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マーケティング部内限り｜② ブランドライブラリ（1/2）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② ブランドライブラリ（2/2）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対象課題：B-2／B-3／B-4／B-5／B-6／B-7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brand_pc（最重要）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230368"/>
            <a:ext cx="11643055" cy="12801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2760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504688"/>
            <a:ext cx="11368735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B-5：ラベルのない3枚のアイコンカードでアフォーダンスが不明 → クイックリンクにラベルテキストを追加 → クリック前に用途が分かる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B-6：冒頭見出しの黄色マーカーが帯見出しと二重表現で体裁が粗い → 帯見出し1種類に統一 → 視覚的な一貫性が向上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B-3：ロゴ掲載フローがフォーム→Teams→Salesforceを跨ぐ6ステップを長文で説明 → 番号付き手順＋関連テンプレ直リンクに整理 → 手続きの実行負荷を軽減（自動化は将来のL2拡張）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B-7：SP版が極端に長尺（PC 8,203px／SP 12,196px） → 目次・アンカー中心の導線＋目的別セクション再編／ページ分割を軸に整理。折りたたみUIの採否はF0で確認 → モバイルでの回遊性向上が期待される</a:t>
            </a:r>
          </a:p>
        </p:txBody>
      </p:sp>
      <p:pic>
        <p:nvPicPr>
          <p:cNvPr id="15" name="Picture 14" descr="asis_brand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433" y="1645920"/>
            <a:ext cx="2028773" cy="7210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17433" y="2376159"/>
            <a:ext cx="202877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B（③④）</a:t>
            </a:r>
          </a:p>
        </p:txBody>
      </p:sp>
      <p:pic>
        <p:nvPicPr>
          <p:cNvPr id="17" name="Picture 16" descr="asis_brand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623" y="2513319"/>
            <a:ext cx="2130393" cy="4659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66623" y="2988441"/>
            <a:ext cx="213039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C（⑤）</a:t>
            </a:r>
          </a:p>
        </p:txBody>
      </p:sp>
      <p:pic>
        <p:nvPicPr>
          <p:cNvPr id="19" name="Picture 18" descr="asis_brand_pc_vs_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090" y="3125601"/>
            <a:ext cx="531459" cy="92518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37459" y="405993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PC/SP 全長比較（B-7）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28853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52628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B-2　粒度も種類も違う資料が10本フラットに並ぶ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④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B-4　Akkodis／AKKODiSなど表記が資料ごとに混在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⑤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B-3　フォーム→Teams→Salesforceを跨ぐ6手順が長文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B-7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SP版はPC版よりさらに長尺（12,196px／PC 8,203px）</a:t>
            </a:r>
          </a:p>
        </p:txBody>
      </p:sp>
      <p:pic>
        <p:nvPicPr>
          <p:cNvPr id="23" name="Picture 22" descr="tobe_brand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9795" y="1645920"/>
            <a:ext cx="2639809" cy="3493008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マーケティング部内限り｜② ブランドライブラリ（2/2）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③ クライアント向け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対象課題：C-1／C-2／C-3（Good・参照モデル）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client_pc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13248"/>
            <a:ext cx="11643055" cy="10972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4589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687568"/>
            <a:ext cx="11368735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C-1：お役立ち資料が30本超のリンク羅列で説明文・絞り込みがない → メタデータ列付きドキュメントライブラリ＋カテゴリ別絞り込みに変更 → 目的資料の発見コストを削減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C-2：リンクに更新日・対象などのメタ情報がなく最新版か判別できない → 言語・更新日メタデータ列を付与 → 新旧・要否の判別が可能に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C-3：アンカーリンクが唯一機能している良い部分 → 構成をそのまま維持し他ページ（ブランド／パートナー）へ横展開 → 全ページで一貫した探索体験（G-1是正にも直結）</a:t>
            </a:r>
          </a:p>
        </p:txBody>
      </p:sp>
      <p:pic>
        <p:nvPicPr>
          <p:cNvPr id="15" name="Picture 14" descr="asis_cli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452" y="1645920"/>
            <a:ext cx="1364735" cy="11660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49452" y="2821106"/>
            <a:ext cx="136473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Crop1（①）</a:t>
            </a:r>
          </a:p>
        </p:txBody>
      </p:sp>
      <p:pic>
        <p:nvPicPr>
          <p:cNvPr id="17" name="Picture 16" descr="asis_clien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021" y="2958266"/>
            <a:ext cx="2665596" cy="12754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99021" y="4242815"/>
            <a:ext cx="266559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Crop2（②③）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47141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0916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005AB5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C-3（Good）ページ内ジャンプが機能する唯一の良い例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C-1　30本超がメタ情報なしに羅列されるだけ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C-2　更新日・対象がなく新旧・要否が判別不可</a:t>
            </a:r>
          </a:p>
        </p:txBody>
      </p:sp>
      <p:pic>
        <p:nvPicPr>
          <p:cNvPr id="21" name="Picture 20" descr="tobe_cl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1204" y="1645920"/>
            <a:ext cx="3156990" cy="36758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マーケティング部内限り｜③ クライアント向け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④ キャンディデート向け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対象課題：CA-1（最重要・クイックウィン）／CA-2（Good・参照モデル）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candidate_pc（最重要）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58968"/>
            <a:ext cx="11643055" cy="10515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5046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733288"/>
            <a:ext cx="11368735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CA-1（最重要）：マスター資料が「各チームに直接連絡」で完結し資料が入手できない → ドキュメントライブラリへの直リンク＋クイックリンクに置換、連絡先はメタデータとして保持 → 「見つからずメール検索」を誘発する典型例を短期間で改善（追加ライセンス費ゼロ想定。既存資料・権限・保管場所の確認を着手条件とする／クイックウィン）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CA-2：ページ構成自体は簡潔で見やすい → 3セクション構成をそのまま維持し他ページ改善の目標形にする → 情報量の少なさではなく「構造の分かりやすさ」を他ページ（特にブランドライブラリ）へ横展開する参照モデルとして活用</a:t>
            </a:r>
          </a:p>
        </p:txBody>
      </p:sp>
      <p:pic>
        <p:nvPicPr>
          <p:cNvPr id="15" name="Picture 14" descr="asis_cand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413" y="1645920"/>
            <a:ext cx="2394813" cy="30266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0040" y="4764024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5001768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CA-1（最重要）直リンクがなく連絡しないと資料が手に入らない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005AB5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CA-2（Good）3セクションのみで簡潔・他ページの参照モデル</a:t>
            </a:r>
          </a:p>
        </p:txBody>
      </p:sp>
      <p:pic>
        <p:nvPicPr>
          <p:cNvPr id="18" name="Picture 17" descr="tobe_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288" y="1645920"/>
            <a:ext cx="2948822" cy="3099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172200" y="4818888"/>
            <a:ext cx="5715000" cy="548640"/>
          </a:xfrm>
          <a:prstGeom prst="rect">
            <a:avLst/>
          </a:prstGeom>
          <a:solidFill>
            <a:srgbClr val="E9F3E9"/>
          </a:solidFill>
          <a:ln w="12700">
            <a:solidFill>
              <a:srgbClr val="3A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4882896"/>
            <a:ext cx="5495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1" i="0">
                <a:solidFill>
                  <a:srgbClr val="2E632E"/>
                </a:solidFill>
                <a:latin typeface="Meiryo UI"/>
                <a:ea typeface="Meiryo UI"/>
              </a:rPr>
              <a:t>クイックウィン：L1（既存パーツ）・追加ライセンス費ゼロ想定。既存資料・権限・保管場所の確認を着手条件に着手可能。docs/02 §5・§8の最優先クイックウィンに一致。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マーケティング部内限り｜④ キャンディデート向け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⑤ グローバルブランドパートナーシップ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対象課題：P-1／P-2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partner_pc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58968"/>
            <a:ext cx="11643055" cy="10515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5046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733288"/>
            <a:ext cx="11368735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P-1：Akkodis ASP Teamだけ余分な画像枠が表示され体裁が揃わない（原因は要現物確認） → 差し替えor削除は現物確認後に決定し、他2チームと構造をそろえる → 3パートナーの見え方の一貫性向上が期待される（低コスト・クイックウィン）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P-2：長尺ページなのにページ内ナビがなくクライアントページのアンカー導線と不統一 → 3パートナーへのページ内目次を新設 → 目的パートナーへの直接到達が可能に（G-1是正の一環）</a:t>
            </a:r>
          </a:p>
        </p:txBody>
      </p:sp>
      <p:pic>
        <p:nvPicPr>
          <p:cNvPr id="15" name="Picture 14" descr="asis_partner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34" y="1645920"/>
            <a:ext cx="3371171" cy="13825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46234" y="3037636"/>
            <a:ext cx="337117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Crop1（①）</a:t>
            </a:r>
          </a:p>
        </p:txBody>
      </p:sp>
      <p:pic>
        <p:nvPicPr>
          <p:cNvPr id="17" name="Picture 16" descr="asis_partner_thumbn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7099" y="3174796"/>
            <a:ext cx="329440" cy="110459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7459" y="4288535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全体縮尺（②）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51713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5488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P-1　Akkodis ASP Teamだけ余分な画像枠が表示（原因は要現物確認）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P-2　長尺スクロールなのにページ内ジャンプがない</a:t>
            </a:r>
          </a:p>
        </p:txBody>
      </p:sp>
      <p:pic>
        <p:nvPicPr>
          <p:cNvPr id="21" name="Picture 20" descr="tobe_part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105" y="1645920"/>
            <a:ext cx="4637189" cy="37216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マーケティング部内限り｜⑤ グローバルブランドパートナーシップ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横断課題サマリー（G-1〜G-4）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全ページ共通テンプレート化で解決する4つの構造課題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全ページ横断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144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1F33"/>
                </a:solidFill>
                <a:latin typeface="Meiryo UI"/>
                <a:ea typeface="Meiryo UI"/>
              </a:rPr>
              <a:t>AsIs：各ページから代表箇所を抜粋</a:t>
            </a:r>
          </a:p>
        </p:txBody>
      </p:sp>
      <p:pic>
        <p:nvPicPr>
          <p:cNvPr id="9" name="Picture 8" descr="asis_g1_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90914"/>
            <a:ext cx="1371600" cy="1259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G-1｜client_pc：アンカー有（Good）</a:t>
            </a:r>
          </a:p>
        </p:txBody>
      </p:sp>
      <p:pic>
        <p:nvPicPr>
          <p:cNvPr id="12" name="Picture 11" descr="asis_g1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383916"/>
            <a:ext cx="1371600" cy="13995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73736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G-1｜brand_pc：アンカー無（該当なし）</a:t>
            </a:r>
          </a:p>
        </p:txBody>
      </p:sp>
      <p:pic>
        <p:nvPicPr>
          <p:cNvPr id="15" name="Picture 14" descr="asis_g2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361898"/>
            <a:ext cx="1371600" cy="18399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15468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G-2｜検索ボックス（絞り込み無）</a:t>
            </a:r>
          </a:p>
        </p:txBody>
      </p:sp>
      <p:pic>
        <p:nvPicPr>
          <p:cNvPr id="18" name="Picture 17" descr="asis_g3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306939"/>
            <a:ext cx="1371600" cy="29391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G-3｜top_pc：業務依頼フォーム</a:t>
            </a:r>
          </a:p>
        </p:txBody>
      </p:sp>
      <p:pic>
        <p:nvPicPr>
          <p:cNvPr id="21" name="Picture 20" descr="asis_g3_br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294155"/>
            <a:ext cx="1371600" cy="14828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004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G-3｜brand_pc：Marketing部依頼フォーム</a:t>
            </a:r>
          </a:p>
        </p:txBody>
      </p:sp>
      <p:pic>
        <p:nvPicPr>
          <p:cNvPr id="24" name="Picture 23" descr="asis_g3_candid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2336023"/>
            <a:ext cx="1371600" cy="6454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73736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G-3｜candidate_pc：各チーム連絡</a:t>
            </a:r>
          </a:p>
        </p:txBody>
      </p:sp>
      <p:pic>
        <p:nvPicPr>
          <p:cNvPr id="27" name="Picture 26" descr="asis_g4_nav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4680" y="2182945"/>
            <a:ext cx="1371600" cy="37070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315468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468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G-4｜ナビ末尾「編集のナビゲーション」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035808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1F33"/>
                </a:solidFill>
                <a:latin typeface="Meiryo UI"/>
                <a:ea typeface="Meiryo UI"/>
              </a:rPr>
              <a:t>ToBe：全ページ共通テンプレート化（§6-2）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3291840"/>
            <a:ext cx="11521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[検索ボックス web part]（G-2対応の核）：全ページヘッダー直下・共通位置に常設。Microsoft Search＋[ハイライトされたコンテンツ web part]の動的クエリを組合せ。高度ファセットはL3（PnP採用時）／標準リファイナーはL1範囲をF0で確認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[ページ内リンク／セクションアンカー web part]（G-1対応）：全ページ冒頭にページ内目次を置くフォーマットを統一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帯見出しのビジュアル統一（G-1／B-6共通）：黄色帯＋黄色マーカーの二重表現をやめ帯見出し1種類に統一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「窓口案内」の共通化（G-3対応）：業務依頼フォーム／ブランドレビュー手順／各チーム連絡先を共通フォーマットのクイックリンクブロックとして各ページ末尾または目次に集約表示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G-4：デザイン設計ではなくSharePoint権限・表示設定の確認事項。次ステップF0（テナント棚卸し）で確認する運用課題として扱う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910328"/>
            <a:ext cx="11643055" cy="160020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95604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184648"/>
            <a:ext cx="11368735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G-2（最重要）：標準検索はあるがページ内の絞り込み・ファセットがなく「見つからない→メール検索」の核心原因 → 検索入口と対象の整理＋メタデータ整備による基礎改善（全ページ共通位置に検索ボックス＋ハイライトされたコンテンツを設置） → 発見性の底上げが期待される。高度な絞り込み（ファセット）は標準リファイナー（一部L1）／PnP Modern Search（L3）で段階拡張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G-1：ページ間で構成（アンカー有無・装飾・密度）が不統一で回遊のたび探し方を学び直す必要がある → ページ内目次・帯見出しを全ページ共通テンプレート化 → 一貫した探索体験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G-3：窓口・相談導線が各所に分散 → 共通フォーマットの窓口案内ブロックを各ページに配置 → どの窓口を使うべきかが一目で分かる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G-4：ナビ末尾に「編集 のナビゲーション」が露出（編集者ビュー由来と見られ要確認） → デザイン変更ではなくSharePoint表示設定の確認事項としてF0（次ステップ）に回す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マーケティング部内限り｜横断課題サマリー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次ステップ（1/2）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フェーズ計画（F0〜F4・各フェーズの完了条件）（docs/02 §6-1）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次アクション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F0　テナント棚卸し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35608"/>
            <a:ext cx="2176272" cy="1783080"/>
          </a:xfrm>
          <a:prstGeom prst="rect">
            <a:avLst/>
          </a:prstGeom>
          <a:solidFill>
            <a:srgbClr val="FFF7E2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08760"/>
            <a:ext cx="204825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333333"/>
                </a:solidFill>
                <a:latin typeface="Meiryo UI"/>
                <a:ea typeface="Meiryo UI"/>
              </a:rPr>
              <a:t>M365 Copilot／Copilot Studio／SharePoint Premium／Power Platformのライセンス確認、SPFxカスタムコード許可可否、IT窓口特定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423160"/>
            <a:ext cx="2048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001F33"/>
                </a:solidFill>
                <a:latin typeface="Meiryo UI"/>
                <a:ea typeface="Meiryo UI"/>
              </a:rPr>
              <a:t>完了条件：実行可能範囲(L1/L2/L3)確定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99008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ops-manager（社長経由でIT窓口）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1176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1176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F1　要件定義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51176" y="1435608"/>
            <a:ext cx="2176272" cy="17830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4328" y="1508760"/>
            <a:ext cx="204825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333333"/>
                </a:solidFill>
                <a:latin typeface="Meiryo UI"/>
                <a:ea typeface="Meiryo UI"/>
              </a:rPr>
              <a:t>課題→機能要件化、対象利用者・権限区分、AIスコープ確定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4328" y="2423160"/>
            <a:ext cx="2048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001F33"/>
                </a:solidFill>
                <a:latin typeface="Meiryo UI"/>
                <a:ea typeface="Meiryo UI"/>
              </a:rPr>
              <a:t>完了条件：Must範囲を社長承認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299008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ops-manager／marketer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82312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2312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F2　SharePoint情報設計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82312" y="1435608"/>
            <a:ext cx="2176272" cy="17830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08760"/>
            <a:ext cx="204825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333333"/>
                </a:solidFill>
                <a:latin typeface="Meiryo UI"/>
                <a:ea typeface="Meiryo UI"/>
              </a:rPr>
              <a:t>サイト構成・ナビ/IA・ページ設計・メタデータ列/コンテンツタイプ・権限方針・検索スキーマ方針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2423160"/>
            <a:ext cx="2048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001F33"/>
                </a:solidFill>
                <a:latin typeface="Meiryo UI"/>
                <a:ea typeface="Meiryo UI"/>
              </a:rPr>
              <a:t>完了条件：設計レビュー通過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299008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engineer／designer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13448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F3　L1 PoC／MVP構築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13448" y="1435608"/>
            <a:ext cx="2176272" cy="17830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1508760"/>
            <a:ext cx="204825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333333"/>
                </a:solidFill>
                <a:latin typeface="Meiryo UI"/>
                <a:ea typeface="Meiryo UI"/>
              </a:rPr>
              <a:t>クイックウィン実装、ブランドライブラリ再構成、Microsoft Search+web part配置、Lists/Forms受付、メタデータ適用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423160"/>
            <a:ext cx="2048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001F33"/>
                </a:solidFill>
                <a:latin typeface="Meiryo UI"/>
                <a:ea typeface="Meiryo UI"/>
              </a:rPr>
              <a:t>完了条件：B-1/G-2/CA-1のユーザー検証合格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9008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44584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44584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F4　L2拡張（条件付き）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44584" y="1435608"/>
            <a:ext cx="2176272" cy="17830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17736" y="1508760"/>
            <a:ext cx="204825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333333"/>
                </a:solidFill>
                <a:latin typeface="Meiryo UI"/>
                <a:ea typeface="Meiryo UI"/>
              </a:rPr>
              <a:t>F0結果に応じAI-6メタデータ自動付与／AI-2 Copilotアシスタント／AI-5申請自動化を段階投入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17736" y="2423160"/>
            <a:ext cx="2048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001F33"/>
                </a:solidFill>
                <a:latin typeface="Meiryo UI"/>
                <a:ea typeface="Meiryo UI"/>
              </a:rPr>
              <a:t>完了条件：ライセンス承認済み機能のみ稼働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17736" y="299008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engineer／qa-reviewer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32304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94576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712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3328416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Meiryo UI"/>
                <a:ea typeface="Meiryo UI"/>
              </a:rPr>
              <a:t>F0はF1より先（何が作れるか未確定のまま設計に入らない）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Meiryo UI"/>
                <a:ea typeface="Meiryo UI"/>
              </a:rPr>
              <a:t>本計画は全22課題を同時実装するものではない。MVP（L1の4点）を軸に、同時着手可能な低コストのクイックウィン（CA-1／B-5・B-6／P-1〈要現物確認〉等）を並行し、後続のL2/L3拡張（AI-1〜6等・要検証）はF0のライセンス確定後に段階投入す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マーケティング部内限り｜次ステップ（1/2）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次ステップ（2/2）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成功指標（KPI）／セキュリティ・権限ゲート／社長判断3点（docs/01 §6-2・docs/02 §6-2・§7）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次アクション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14400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成功指標（KPI）候補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70432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Meiryo UI"/>
                <a:ea typeface="Meiryo UI"/>
              </a:rPr>
              <a:t>測定方針：現状値取得 → 目標設定 → MVP後測定　（docs/01 §6-2）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444752"/>
            <a:ext cx="5577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60" b="0" i="0">
                <a:solidFill>
                  <a:srgbClr val="333333"/>
                </a:solidFill>
                <a:latin typeface="Meiryo UI"/>
                <a:ea typeface="Meiryo UI"/>
              </a:rPr>
              <a:t>・ 検索成功率・ゼロ件率（G-2の効果測定）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60" b="0" i="0">
                <a:solidFill>
                  <a:srgbClr val="333333"/>
                </a:solidFill>
                <a:latin typeface="Meiryo UI"/>
                <a:ea typeface="Meiryo UI"/>
              </a:rPr>
              <a:t>・ 目的資料までのクリック数・所要時間（B-1／到達効率）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60" b="0" i="0">
                <a:solidFill>
                  <a:srgbClr val="333333"/>
                </a:solidFill>
                <a:latin typeface="Meiryo UI"/>
                <a:ea typeface="Meiryo UI"/>
              </a:rPr>
              <a:t>・ 「資料が見つからない」問い合わせ件数（CA-1／メール検索代替の指標）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60" b="0" i="0">
                <a:solidFill>
                  <a:srgbClr val="333333"/>
                </a:solidFill>
                <a:latin typeface="Meiryo UI"/>
                <a:ea typeface="Meiryo UI"/>
              </a:rPr>
              <a:t>・ 候補者資料の直リンク利用数（CA-1のクイックウィン効果測定）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960" b="0" i="0">
                <a:solidFill>
                  <a:srgbClr val="333333"/>
                </a:solidFill>
                <a:latin typeface="Meiryo UI"/>
                <a:ea typeface="Meiryo UI"/>
              </a:rPr>
              <a:t>・ モバイル到達率（T-1／B-7のモバイル対応効果測定）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337560"/>
            <a:ext cx="5577840" cy="77724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3410712"/>
            <a:ext cx="53583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0" i="0">
                <a:solidFill>
                  <a:srgbClr val="333333"/>
                </a:solidFill>
                <a:latin typeface="Meiryo UI"/>
                <a:ea typeface="Meiryo UI"/>
              </a:rPr>
              <a:t>MVP稼働後、上記5指標について現状値を取得し目標値を設定、MVP実装後に再測定して効果を検証する（本資料はKPI候補の提示であり、目標値の確定は次フェーズで行う）。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91440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セキュリティ／権限ゲート（F0・F2 必須）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5760720" cy="1417320"/>
          </a:xfrm>
          <a:prstGeom prst="rect">
            <a:avLst/>
          </a:prstGeom>
          <a:solidFill>
            <a:srgbClr val="FBF3E8"/>
          </a:solidFill>
          <a:ln w="12700">
            <a:solidFill>
              <a:srgbClr val="B5762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280160"/>
            <a:ext cx="554126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60" b="0" i="0">
                <a:solidFill>
                  <a:srgbClr val="333333"/>
                </a:solidFill>
                <a:latin typeface="Meiryo UI"/>
                <a:ea typeface="Meiryo UI"/>
              </a:rPr>
              <a:t>・ 外部共有方針（クライアント配布PDF・会社案内等）の確定 — コミュニケーションサイトは既定オフを推奨（docs/02 §7）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60" b="0" i="0">
                <a:solidFill>
                  <a:srgbClr val="333333"/>
                </a:solidFill>
                <a:latin typeface="Meiryo UI"/>
                <a:ea typeface="Meiryo UI"/>
              </a:rPr>
              <a:t>・ 機微／社外秘資料のライブラリ・権限分離 — ブランドライブラリ「注意事項」記載の営業秘密情報を含むため必須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60" b="0" i="0">
                <a:solidFill>
                  <a:srgbClr val="333333"/>
                </a:solidFill>
                <a:latin typeface="Meiryo UI"/>
                <a:ea typeface="Meiryo UI"/>
              </a:rPr>
              <a:t>・ AI検索／ナレッジ源に含める対象範囲の明示 — 権限設計（F2）がAI機能の前提。誤設計はAIの情報漏れに直結（docs/02 §7）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9748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i="0">
                <a:solidFill>
                  <a:srgbClr val="8A5518"/>
                </a:solidFill>
                <a:latin typeface="Meiryo UI"/>
                <a:ea typeface="Meiryo UI"/>
              </a:rPr>
              <a:t>→ F0（棚卸し）・F2（権限設計）の必須ゲート。可否・範囲は社長判断事項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6324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社長にご判断・ご確認いただきたい点（3点）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337560"/>
            <a:ext cx="914400" cy="68580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3337560"/>
            <a:ext cx="914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1" i="0">
                <a:solidFill>
                  <a:srgbClr val="FFFFFF"/>
                </a:solidFill>
                <a:latin typeface="Meiryo UI"/>
                <a:ea typeface="Meiryo UI"/>
              </a:rPr>
              <a:t>【要判断】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37560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333333"/>
                </a:solidFill>
                <a:latin typeface="Meiryo UI"/>
                <a:ea typeface="Meiryo UI"/>
              </a:rPr>
              <a:t>MVPをL1の4点に絞って先行してよいか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5387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0" i="0">
                <a:solidFill>
                  <a:srgbClr val="666666"/>
                </a:solidFill>
                <a:latin typeface="Meiryo UI"/>
                <a:ea typeface="Meiryo UI"/>
              </a:rPr>
              <a:t>直リンク化(CA-1)＋ブランドライブラリ再構成(B-1/B-2)＋Microsoft Search(G-2)＋メタデータ設計の4点を先行する案。推奨：絞る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096512"/>
            <a:ext cx="914400" cy="68580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4096512"/>
            <a:ext cx="914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1" i="0">
                <a:solidFill>
                  <a:srgbClr val="FFFFFF"/>
                </a:solidFill>
                <a:latin typeface="Meiryo UI"/>
                <a:ea typeface="Meiryo UI"/>
              </a:rPr>
              <a:t>【要確認】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96512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333333"/>
                </a:solidFill>
                <a:latin typeface="Meiryo UI"/>
                <a:ea typeface="Meiryo UI"/>
              </a:rPr>
              <a:t>テナントのライセンス実態の確認（IT窓口の特定）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97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0" i="0">
                <a:solidFill>
                  <a:srgbClr val="666666"/>
                </a:solidFill>
                <a:latin typeface="Meiryo UI"/>
                <a:ea typeface="Meiryo UI"/>
              </a:rPr>
              <a:t>M365 Copilot／Copilot Studio／SharePoint Premium／Power Platformプレミアムの保有・付与範囲。未確定だとAI6機能の可否が決まらない（最大のブロッカー）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855464"/>
            <a:ext cx="914400" cy="29260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85546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30" b="1" i="0">
                <a:solidFill>
                  <a:srgbClr val="FFFFFF"/>
                </a:solidFill>
                <a:latin typeface="Meiryo UI"/>
                <a:ea typeface="Meiryo UI"/>
              </a:rPr>
              <a:t>【要判断】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855464"/>
            <a:ext cx="4754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333333"/>
                </a:solidFill>
                <a:latin typeface="Meiryo UI"/>
                <a:ea typeface="Meiryo UI"/>
              </a:rPr>
              <a:t>クイックウィン（直リンク化・費用ゼロ・L1）をF0完了を待たず先行着手してよいか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マーケティング部内限り｜次ステップ（2/2）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