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080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KKODIS_Logo_POS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85800"/>
            <a:ext cx="2377440" cy="7071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96596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Meiryo UI"/>
                <a:ea typeface="Meiryo UI"/>
              </a:rPr>
              <a:t>AKKODiSマーケティングポータル</a:t>
            </a:r>
          </a:p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Meiryo UI"/>
                <a:ea typeface="Meiryo UI"/>
              </a:rPr>
              <a:t>リニューアル提案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FE3F0"/>
                </a:solidFill>
                <a:latin typeface="Meiryo UI"/>
                <a:ea typeface="Meiryo UI"/>
              </a:rPr>
              <a:t>現状課題22件の分析とSharePoint L1既存パーツによる改善方向性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8C7D1"/>
                </a:solidFill>
                <a:latin typeface="Meiryo UI"/>
                <a:ea typeface="Meiryo UI"/>
              </a:rPr>
              <a:t>AsIs / ToBe 対比資料　―　デザイン部署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8CA0AC"/>
                </a:solidFill>
                <a:latin typeface="Meiryo UI"/>
                <a:ea typeface="Meiryo UI"/>
              </a:rPr>
              <a:t>社外秘（Confidential）— AKKODiSコンサルティング株式会社 マーケティング部内限り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CA0AC"/>
                </a:solidFill>
                <a:latin typeface="Meiryo UI"/>
                <a:ea typeface="Meiryo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Meiryo UI"/>
                <a:ea typeface="Meiryo UI"/>
              </a:rPr>
              <a:t>エグゼクティブサマリー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FE3F0"/>
                </a:solidFill>
                <a:latin typeface="Meiryo UI"/>
                <a:ea typeface="Meiryo UI"/>
              </a:rPr>
              <a:t>現状分析（docs/01）とSharePoint実装マッピング（docs/02）の要点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1F33"/>
                </a:solidFill>
                <a:latin typeface="Meiryo UI"/>
                <a:ea typeface="Meiryo UI"/>
              </a:rPr>
              <a:t>現状課題 22件の内訳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1737360" cy="585216"/>
          </a:xfrm>
          <a:prstGeom prst="rect">
            <a:avLst/>
          </a:prstGeom>
          <a:solidFill>
            <a:srgbClr val="F4F5F6"/>
          </a:solidFill>
          <a:ln w="9525">
            <a:solidFill>
              <a:srgbClr val="C7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307592"/>
            <a:ext cx="16276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1F33"/>
                </a:solidFill>
                <a:latin typeface="Meiryo UI"/>
                <a:ea typeface="Meiryo UI"/>
              </a:rPr>
              <a:t>トップ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1517904"/>
            <a:ext cx="16276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Meiryo UI"/>
                <a:ea typeface="Meiryo UI"/>
              </a:rPr>
              <a:t>T-1〜T-4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1517904"/>
            <a:ext cx="15910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C41E1E"/>
                </a:solidFill>
                <a:latin typeface="Meiryo UI"/>
                <a:ea typeface="Meiryo UI"/>
              </a:rPr>
              <a:t>4件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30552" y="1261872"/>
            <a:ext cx="1737360" cy="585216"/>
          </a:xfrm>
          <a:prstGeom prst="rect">
            <a:avLst/>
          </a:prstGeom>
          <a:solidFill>
            <a:srgbClr val="F4F5F6"/>
          </a:solidFill>
          <a:ln w="9525">
            <a:solidFill>
              <a:srgbClr val="C7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03704" y="1307592"/>
            <a:ext cx="16276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1F33"/>
                </a:solidFill>
                <a:latin typeface="Meiryo UI"/>
                <a:ea typeface="Meiryo UI"/>
              </a:rPr>
              <a:t>ブランドライブラリ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03704" y="1517904"/>
            <a:ext cx="16276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Meiryo UI"/>
                <a:ea typeface="Meiryo UI"/>
              </a:rPr>
              <a:t>B-1〜B-7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03704" y="1517904"/>
            <a:ext cx="15910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C41E1E"/>
                </a:solidFill>
                <a:latin typeface="Meiryo UI"/>
                <a:ea typeface="Meiryo UI"/>
              </a:rPr>
              <a:t>7件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41064" y="1261872"/>
            <a:ext cx="1737360" cy="585216"/>
          </a:xfrm>
          <a:prstGeom prst="rect">
            <a:avLst/>
          </a:prstGeom>
          <a:solidFill>
            <a:srgbClr val="F4F5F6"/>
          </a:solidFill>
          <a:ln w="9525">
            <a:solidFill>
              <a:srgbClr val="C7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14216" y="1307592"/>
            <a:ext cx="16276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1F33"/>
                </a:solidFill>
                <a:latin typeface="Meiryo UI"/>
                <a:ea typeface="Meiryo UI"/>
              </a:rPr>
              <a:t>クライアント向け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14216" y="1517904"/>
            <a:ext cx="16276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Meiryo UI"/>
                <a:ea typeface="Meiryo UI"/>
              </a:rPr>
              <a:t>C-1〜C-3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14216" y="1517904"/>
            <a:ext cx="15910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C41E1E"/>
                </a:solidFill>
                <a:latin typeface="Meiryo UI"/>
                <a:ea typeface="Meiryo UI"/>
              </a:rPr>
              <a:t>3件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920240"/>
            <a:ext cx="1737360" cy="585216"/>
          </a:xfrm>
          <a:prstGeom prst="rect">
            <a:avLst/>
          </a:prstGeom>
          <a:solidFill>
            <a:srgbClr val="F4F5F6"/>
          </a:solidFill>
          <a:ln w="9525">
            <a:solidFill>
              <a:srgbClr val="C7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1965960"/>
            <a:ext cx="16276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1F33"/>
                </a:solidFill>
                <a:latin typeface="Meiryo UI"/>
                <a:ea typeface="Meiryo UI"/>
              </a:rPr>
              <a:t>キャンディデート向け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" y="2176272"/>
            <a:ext cx="16276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Meiryo UI"/>
                <a:ea typeface="Meiryo UI"/>
              </a:rPr>
              <a:t>CA-1〜CA-2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" y="2176272"/>
            <a:ext cx="15910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C41E1E"/>
                </a:solidFill>
                <a:latin typeface="Meiryo UI"/>
                <a:ea typeface="Meiryo UI"/>
              </a:rPr>
              <a:t>2件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30552" y="1920240"/>
            <a:ext cx="1737360" cy="585216"/>
          </a:xfrm>
          <a:prstGeom prst="rect">
            <a:avLst/>
          </a:prstGeom>
          <a:solidFill>
            <a:srgbClr val="F4F5F6"/>
          </a:solidFill>
          <a:ln w="9525">
            <a:solidFill>
              <a:srgbClr val="C7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03704" y="1965960"/>
            <a:ext cx="16276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1F33"/>
                </a:solidFill>
                <a:latin typeface="Meiryo UI"/>
                <a:ea typeface="Meiryo UI"/>
              </a:rPr>
              <a:t>パートナーシップ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03704" y="2176272"/>
            <a:ext cx="16276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Meiryo UI"/>
                <a:ea typeface="Meiryo UI"/>
              </a:rPr>
              <a:t>P-1〜P-2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03704" y="2176272"/>
            <a:ext cx="15910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C41E1E"/>
                </a:solidFill>
                <a:latin typeface="Meiryo UI"/>
                <a:ea typeface="Meiryo UI"/>
              </a:rPr>
              <a:t>2件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41064" y="1920240"/>
            <a:ext cx="1737360" cy="585216"/>
          </a:xfrm>
          <a:prstGeom prst="rect">
            <a:avLst/>
          </a:prstGeom>
          <a:solidFill>
            <a:srgbClr val="F4F5F6"/>
          </a:solidFill>
          <a:ln w="9525">
            <a:solidFill>
              <a:srgbClr val="C7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14216" y="1965960"/>
            <a:ext cx="16276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1F33"/>
                </a:solidFill>
                <a:latin typeface="Meiryo UI"/>
                <a:ea typeface="Meiryo UI"/>
              </a:rPr>
              <a:t>横断課題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14216" y="2176272"/>
            <a:ext cx="16276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Meiryo UI"/>
                <a:ea typeface="Meiryo UI"/>
              </a:rPr>
              <a:t>G-1〜G-4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14216" y="2176272"/>
            <a:ext cx="15910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C41E1E"/>
                </a:solidFill>
                <a:latin typeface="Meiryo UI"/>
                <a:ea typeface="Meiryo UI"/>
              </a:rPr>
              <a:t>4件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2697480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1F33"/>
                </a:solidFill>
                <a:latin typeface="Meiryo UI"/>
                <a:ea typeface="Meiryo UI"/>
              </a:rPr>
              <a:t>最重要3課題（優先着手）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971800"/>
            <a:ext cx="566928" cy="457200"/>
          </a:xfrm>
          <a:prstGeom prst="rect">
            <a:avLst/>
          </a:prstGeom>
          <a:solidFill>
            <a:srgbClr val="C4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2971800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Meiryo UI"/>
                <a:ea typeface="Meiryo UI"/>
              </a:rPr>
              <a:t>B-1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" y="2971800"/>
            <a:ext cx="4892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33333"/>
                </a:solidFill>
                <a:latin typeface="Meiryo UI"/>
                <a:ea typeface="Meiryo UI"/>
              </a:rPr>
              <a:t>ブランドライブラリの情報過多・ページ内ナビ欠如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" y="3191256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666666"/>
                </a:solidFill>
                <a:latin typeface="Meiryo UI"/>
                <a:ea typeface="Meiryo UI"/>
              </a:rPr>
              <a:t>直近30日で最も使われる実働ページ（重複しない閲覧者数319名）かつユーザー指摘に完全一致。改善効果が最も広く届く。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630168"/>
            <a:ext cx="566928" cy="457200"/>
          </a:xfrm>
          <a:prstGeom prst="rect">
            <a:avLst/>
          </a:prstGeom>
          <a:solidFill>
            <a:srgbClr val="C4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3630168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Meiryo UI"/>
                <a:ea typeface="Meiryo UI"/>
              </a:rPr>
              <a:t>G-2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" y="3630168"/>
            <a:ext cx="4892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33333"/>
                </a:solidFill>
                <a:latin typeface="Meiryo UI"/>
                <a:ea typeface="Meiryo UI"/>
              </a:rPr>
              <a:t>ポータル内検索性の弱さ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" y="3849624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666666"/>
                </a:solidFill>
                <a:latin typeface="Meiryo UI"/>
                <a:ea typeface="Meiryo UI"/>
              </a:rPr>
              <a:t>「見つからない→メール検索」という核心症状の根本原因。標準検索はあるがページ内の絞り込み・ファセットが無い。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288536"/>
            <a:ext cx="566928" cy="457200"/>
          </a:xfrm>
          <a:prstGeom prst="rect">
            <a:avLst/>
          </a:prstGeom>
          <a:solidFill>
            <a:srgbClr val="C4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4288536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Meiryo UI"/>
                <a:ea typeface="Meiryo UI"/>
              </a:rPr>
              <a:t>CA-1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" y="4288536"/>
            <a:ext cx="4892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33333"/>
                </a:solidFill>
                <a:latin typeface="Meiryo UI"/>
                <a:ea typeface="Meiryo UI"/>
              </a:rPr>
              <a:t>資料が「各チームに直接連絡」で完結し入手不可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" y="4507992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666666"/>
                </a:solidFill>
                <a:latin typeface="Meiryo UI"/>
                <a:ea typeface="Meiryo UI"/>
              </a:rPr>
              <a:t>ポータルがメール検索を誘発している典型例。直リンク／保管場所の明示で即改善可能なクイックウィン。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960120"/>
            <a:ext cx="5577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1F33"/>
                </a:solidFill>
                <a:latin typeface="Meiryo UI"/>
                <a:ea typeface="Meiryo UI"/>
              </a:rPr>
              <a:t>改善アプローチ：方針転換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1243584"/>
            <a:ext cx="5532120" cy="914400"/>
          </a:xfrm>
          <a:prstGeom prst="rect">
            <a:avLst/>
          </a:prstGeom>
          <a:solidFill>
            <a:srgbClr val="F4F5F6"/>
          </a:solidFill>
          <a:ln w="9525">
            <a:solidFill>
              <a:srgbClr val="C7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1325880"/>
            <a:ext cx="5257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30" b="0" i="0">
                <a:solidFill>
                  <a:srgbClr val="333333"/>
                </a:solidFill>
                <a:latin typeface="Meiryo UI"/>
                <a:ea typeface="Meiryo UI"/>
              </a:rPr>
              <a:t>初版は「AI機能ありき」で設計していたが、社長差戻し（SharePoint実装マスト）を受け優先順位を反転。「SharePoint既存パーツ（L1）で今すぐ作れるもの」を起点に据え、それを超える機能（AI-1〜AI-6等）は実装階層L1〜L4を明示してライセンス・費用判断に切り出す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2331720"/>
            <a:ext cx="5577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1F33"/>
                </a:solidFill>
                <a:latin typeface="Meiryo UI"/>
                <a:ea typeface="Meiryo UI"/>
              </a:rPr>
              <a:t>MVP（L1・4点）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2606040"/>
            <a:ext cx="5532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 b="0" i="0">
                <a:solidFill>
                  <a:srgbClr val="333333"/>
                </a:solidFill>
                <a:latin typeface="Meiryo UI"/>
                <a:ea typeface="Meiryo UI"/>
              </a:rPr>
              <a:t>・ キャンディデート資料の直リンク化（CA-1／クイックウィン）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 b="0" i="0">
                <a:solidFill>
                  <a:srgbClr val="333333"/>
                </a:solidFill>
                <a:latin typeface="Meiryo UI"/>
                <a:ea typeface="Meiryo UI"/>
              </a:rPr>
              <a:t>・ ブランドライブラリ再構成＋ページ内ナビ（B-1／B-2）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 b="0" i="0">
                <a:solidFill>
                  <a:srgbClr val="333333"/>
                </a:solidFill>
                <a:latin typeface="Meiryo UI"/>
                <a:ea typeface="Meiryo UI"/>
              </a:rPr>
              <a:t>・ Microsoft Search 基本＋検索・ハイライトweb part設置（G-2）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 b="0" i="0">
                <a:solidFill>
                  <a:srgbClr val="333333"/>
                </a:solidFill>
                <a:latin typeface="Meiryo UI"/>
                <a:ea typeface="Meiryo UI"/>
              </a:rPr>
              <a:t>・ ライブラリのメタデータ列・コンテンツタイプ設計（B-4／C-2の土台）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4160520"/>
            <a:ext cx="5532120" cy="2103120"/>
          </a:xfrm>
          <a:prstGeom prst="rect">
            <a:avLst/>
          </a:prstGeom>
          <a:solidFill>
            <a:srgbClr val="FBF3E8"/>
          </a:solidFill>
          <a:ln w="12700">
            <a:solidFill>
              <a:srgbClr val="B576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4251960"/>
            <a:ext cx="5212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A5518"/>
                </a:solidFill>
                <a:latin typeface="Meiryo UI"/>
                <a:ea typeface="Meiryo UI"/>
              </a:rPr>
              <a:t>本書の位置づけ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526280"/>
            <a:ext cx="5257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333333"/>
                </a:solidFill>
                <a:latin typeface="Meiryo UI"/>
                <a:ea typeface="Meiryo UI"/>
              </a:rPr>
              <a:t>本資料はデザイン部署によるAsIs→ToBe対比の可視化提案であり、実装・費用発生・外部公開の意思決定は含まない。SharePointの機能名・パーツ名は知識カットオフ時点の一般知識に基づく推定を含み、テナントの実ライセンス・管理者ポリシーでの検証（F0）を前提とする。文言未確定箇所（カード説明文・アイコンラベル等）は「（今後定義）」と明記し、創作した具体文言を確定情報のようには見せていない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59282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66666"/>
                </a:solidFill>
                <a:latin typeface="Meiryo UI"/>
                <a:ea typeface="Meiryo UI"/>
              </a:rPr>
              <a:t>社外秘（Confidential）— AKKODiSコンサルティング株式会社 マーケティング部内限り｜エグゼクティブサマリー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521440" y="659282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666666"/>
                </a:solidFill>
                <a:latin typeface="Meiryo UI"/>
                <a:ea typeface="Meiryo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Meiryo UI"/>
                <a:ea typeface="Meiryo UI"/>
              </a:rPr>
              <a:t>① トップ（ホーム）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FE3F0"/>
                </a:solidFill>
                <a:latin typeface="Meiryo UI"/>
                <a:ea typeface="Meiryo UI"/>
              </a:rPr>
              <a:t>対象課題：T-1／T-2／T-3／T-4</a:t>
            </a:r>
          </a:p>
        </p:txBody>
      </p:sp>
      <p:sp>
        <p:nvSpPr>
          <p:cNvPr id="6" name="Rectangle 5"/>
          <p:cNvSpPr/>
          <p:nvPr/>
        </p:nvSpPr>
        <p:spPr>
          <a:xfrm>
            <a:off x="9539935" y="164592"/>
            <a:ext cx="2377440" cy="45720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39935" y="164592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01F33"/>
                </a:solidFill>
                <a:latin typeface="Meiryo UI"/>
                <a:ea typeface="Meiryo UI"/>
              </a:rPr>
              <a:t>top_pc / top_sp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896112"/>
            <a:ext cx="2103120" cy="292608"/>
          </a:xfrm>
          <a:prstGeom prst="rect">
            <a:avLst/>
          </a:prstGeom>
          <a:solidFill>
            <a:srgbClr val="C4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896112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AsIs（現状）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896112"/>
            <a:ext cx="2103120" cy="292608"/>
          </a:xfrm>
          <a:prstGeom prst="rect">
            <a:avLst/>
          </a:prstGeom>
          <a:solidFill>
            <a:srgbClr val="005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896112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ToBe（改善後）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276088"/>
            <a:ext cx="11643055" cy="1234440"/>
          </a:xfrm>
          <a:prstGeom prst="rect">
            <a:avLst/>
          </a:prstGeom>
          <a:solidFill>
            <a:srgbClr val="F4F5F6"/>
          </a:solidFill>
          <a:ln w="9525">
            <a:solidFill>
              <a:srgbClr val="C7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321808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1F33"/>
                </a:solidFill>
                <a:latin typeface="Meiryo UI"/>
                <a:ea typeface="Meiryo UI"/>
              </a:rPr>
              <a:t>改善ポイント（課題→改善→効果）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550408"/>
            <a:ext cx="11368735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30" b="0" i="0">
                <a:solidFill>
                  <a:srgbClr val="333333"/>
                </a:solidFill>
                <a:latin typeface="Meiryo UI"/>
                <a:ea typeface="Meiryo UI"/>
              </a:rPr>
              <a:t>・ T-3：カードに説明文がなく次に何ができるか伝わらない → クイックリンクに1行説明を追加 → クリック前に目的地が分かり誤クリック・迷いが減る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30" b="0" i="0">
                <a:solidFill>
                  <a:srgbClr val="333333"/>
                </a:solidFill>
                <a:latin typeface="Meiryo UI"/>
                <a:ea typeface="Meiryo UI"/>
              </a:rPr>
              <a:t>・ T-4：業務依頼フォームとブランドレビュー手順の使い分けが1画面で判別しづらい → 「よく使う窓口」セクションで2入口を並置し使い分けテキストを添える → 依頼者が正しい窓口へ一発到達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30" b="0" i="0">
                <a:solidFill>
                  <a:srgbClr val="333333"/>
                </a:solidFill>
                <a:latin typeface="Meiryo UI"/>
                <a:ea typeface="Meiryo UI"/>
              </a:rPr>
              <a:t>・ T-1：埋め込みダッシュボードがSPで極小枠＋横スクロールとなり判読不能 → SP表示のみ要約表示に切替 → モバイル利用者にも指標が届く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30" b="0" i="0">
                <a:solidFill>
                  <a:srgbClr val="333333"/>
                </a:solidFill>
                <a:latin typeface="Meiryo UI"/>
                <a:ea typeface="Meiryo UI"/>
              </a:rPr>
              <a:t>・ T-2：組織体制が最下部に沈み情報の優先順位が弱い → ページ内目次にアンカーを追加 → スクロールなしで直接到達可能に</a:t>
            </a:r>
          </a:p>
        </p:txBody>
      </p:sp>
      <p:pic>
        <p:nvPicPr>
          <p:cNvPr id="15" name="Picture 14" descr="asis_top_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859" y="1645920"/>
            <a:ext cx="1072775" cy="24505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14887" y="4105656"/>
            <a:ext cx="118872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666666"/>
                </a:solidFill>
                <a:latin typeface="Meiryo UI"/>
                <a:ea typeface="Meiryo UI"/>
              </a:rPr>
              <a:t>top_pc.png（①②③）</a:t>
            </a:r>
          </a:p>
        </p:txBody>
      </p:sp>
      <p:pic>
        <p:nvPicPr>
          <p:cNvPr id="17" name="Picture 16" descr="asis_top_sp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7074" y="1645920"/>
            <a:ext cx="1753704" cy="24505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837074" y="4105656"/>
            <a:ext cx="175370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666666"/>
                </a:solidFill>
                <a:latin typeface="Meiryo UI"/>
                <a:ea typeface="Meiryo UI"/>
              </a:rPr>
              <a:t>top_sp.png 抜粋（④）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334256"/>
            <a:ext cx="5623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1F33"/>
                </a:solidFill>
                <a:latin typeface="Meiryo UI"/>
                <a:ea typeface="Meiryo UI"/>
              </a:rPr>
              <a:t>AsIs 該当箇所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572000"/>
            <a:ext cx="562356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950" b="1" i="0">
                <a:solidFill>
                  <a:srgbClr val="C41E1E"/>
                </a:solidFill>
                <a:latin typeface="Meiryo UI"/>
                <a:ea typeface="Meiryo UI"/>
              </a:rPr>
              <a:t>① </a:t>
            </a:r>
            <a:r>
              <a:rPr sz="950" b="0" i="0">
                <a:solidFill>
                  <a:srgbClr val="333333"/>
                </a:solidFill>
                <a:latin typeface="Meiryo UI"/>
                <a:ea typeface="Meiryo UI"/>
              </a:rPr>
              <a:t>T-3　説明文がなくラベルのみで内容が伝わらない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950" b="1" i="0">
                <a:solidFill>
                  <a:srgbClr val="C41E1E"/>
                </a:solidFill>
                <a:latin typeface="Meiryo UI"/>
                <a:ea typeface="Meiryo UI"/>
              </a:rPr>
              <a:t>② </a:t>
            </a:r>
            <a:r>
              <a:rPr sz="950" b="0" i="0">
                <a:solidFill>
                  <a:srgbClr val="333333"/>
                </a:solidFill>
                <a:latin typeface="Meiryo UI"/>
                <a:ea typeface="Meiryo UI"/>
              </a:rPr>
              <a:t>T-4　似た入口が並び使い分けが1画面で判別できない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950" b="1" i="0">
                <a:solidFill>
                  <a:srgbClr val="C41E1E"/>
                </a:solidFill>
                <a:latin typeface="Meiryo UI"/>
                <a:ea typeface="Meiryo UI"/>
              </a:rPr>
              <a:t>③ </a:t>
            </a:r>
            <a:r>
              <a:rPr sz="950" b="0" i="0">
                <a:solidFill>
                  <a:srgbClr val="333333"/>
                </a:solidFill>
                <a:latin typeface="Meiryo UI"/>
                <a:ea typeface="Meiryo UI"/>
              </a:rPr>
              <a:t>T-2　探す・依頼する導線より下に組織図が沈む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950" b="1" i="0">
                <a:solidFill>
                  <a:srgbClr val="C41E1E"/>
                </a:solidFill>
                <a:latin typeface="Meiryo UI"/>
                <a:ea typeface="Meiryo UI"/>
              </a:rPr>
              <a:t>④ </a:t>
            </a:r>
            <a:r>
              <a:rPr sz="950" b="0" i="0">
                <a:solidFill>
                  <a:srgbClr val="333333"/>
                </a:solidFill>
                <a:latin typeface="Meiryo UI"/>
                <a:ea typeface="Meiryo UI"/>
              </a:rPr>
              <a:t>T-1（SP）　モバイルでは極小枠＋横スクロールで数値が読めない</a:t>
            </a:r>
          </a:p>
        </p:txBody>
      </p:sp>
      <p:pic>
        <p:nvPicPr>
          <p:cNvPr id="21" name="Picture 20" descr="tobe_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0566" y="1645920"/>
            <a:ext cx="3578266" cy="353872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9282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66666"/>
                </a:solidFill>
                <a:latin typeface="Meiryo UI"/>
                <a:ea typeface="Meiryo UI"/>
              </a:rPr>
              <a:t>社外秘（Confidential）— AKKODiSコンサルティング株式会社 マーケティング部内限り｜① トップ（ホーム）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59282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666666"/>
                </a:solidFill>
                <a:latin typeface="Meiryo UI"/>
                <a:ea typeface="Meiryo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Meiryo UI"/>
                <a:ea typeface="Meiryo UI"/>
              </a:rPr>
              <a:t>② ブランドライブラリ（1/2）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FE3F0"/>
                </a:solidFill>
                <a:latin typeface="Meiryo UI"/>
                <a:ea typeface="Meiryo UI"/>
              </a:rPr>
              <a:t>対象課題：B-1（最重要）／B-2（最重要）／B-6／B-5　※直近30日 最多閲覧ページ（319名）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9539935" y="164592"/>
            <a:ext cx="2377440" cy="45720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39935" y="164592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01F33"/>
                </a:solidFill>
                <a:latin typeface="Meiryo UI"/>
                <a:ea typeface="Meiryo UI"/>
              </a:rPr>
              <a:t>brand_pc（最重要）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896112"/>
            <a:ext cx="2103120" cy="292608"/>
          </a:xfrm>
          <a:prstGeom prst="rect">
            <a:avLst/>
          </a:prstGeom>
          <a:solidFill>
            <a:srgbClr val="C4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896112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AsIs（現状）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896112"/>
            <a:ext cx="2103120" cy="292608"/>
          </a:xfrm>
          <a:prstGeom prst="rect">
            <a:avLst/>
          </a:prstGeom>
          <a:solidFill>
            <a:srgbClr val="005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896112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ToBe（改善後）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413248"/>
            <a:ext cx="11643055" cy="1097280"/>
          </a:xfrm>
          <a:prstGeom prst="rect">
            <a:avLst/>
          </a:prstGeom>
          <a:solidFill>
            <a:srgbClr val="F4F5F6"/>
          </a:solidFill>
          <a:ln w="9525">
            <a:solidFill>
              <a:srgbClr val="C7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458968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1F33"/>
                </a:solidFill>
                <a:latin typeface="Meiryo UI"/>
                <a:ea typeface="Meiryo UI"/>
              </a:rPr>
              <a:t>改善ポイント（課題→改善→効果）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687568"/>
            <a:ext cx="11368735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30" b="0" i="0">
                <a:solidFill>
                  <a:srgbClr val="333333"/>
                </a:solidFill>
                <a:latin typeface="Meiryo UI"/>
                <a:ea typeface="Meiryo UI"/>
              </a:rPr>
              <a:t>・ B-1（最重要）：1ページに全情報を積層しページ内ナビが皆無、目的の情報に辿り着けない → 7項目のページ内目次を冒頭に新設 → 直近30日で最多利用（319名）のページの到達性が改善し効果が最も広く届く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30" b="0" i="0">
                <a:solidFill>
                  <a:srgbClr val="333333"/>
                </a:solidFill>
                <a:latin typeface="Meiryo UI"/>
                <a:ea typeface="Meiryo UI"/>
              </a:rPr>
              <a:t>・ B-2（最重要）：ガイドライン約10本が粒度・目的バラバラにフラット列挙 → 目的軸4カテゴリのドキュメントライブラリ＋メタデータ列で束ね直す → 目的の資料への選択時間が短縮</a:t>
            </a:r>
          </a:p>
        </p:txBody>
      </p:sp>
      <p:pic>
        <p:nvPicPr>
          <p:cNvPr id="15" name="Picture 14" descr="asis_brand_thumbn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146" y="1645920"/>
            <a:ext cx="461705" cy="25877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39639" y="4242816"/>
            <a:ext cx="118872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666666"/>
                </a:solidFill>
                <a:latin typeface="Meiryo UI"/>
                <a:ea typeface="Meiryo UI"/>
              </a:rPr>
              <a:t>全体縮尺（B-1）</a:t>
            </a:r>
          </a:p>
        </p:txBody>
      </p:sp>
      <p:pic>
        <p:nvPicPr>
          <p:cNvPr id="17" name="Picture 16" descr="asis_brand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291" y="1645920"/>
            <a:ext cx="2704200" cy="25877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056291" y="4242816"/>
            <a:ext cx="27042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666666"/>
                </a:solidFill>
                <a:latin typeface="Meiryo UI"/>
                <a:ea typeface="Meiryo UI"/>
              </a:rPr>
              <a:t>Crop A（①②）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471416"/>
            <a:ext cx="5623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1F33"/>
                </a:solidFill>
                <a:latin typeface="Meiryo UI"/>
                <a:ea typeface="Meiryo UI"/>
              </a:rPr>
              <a:t>AsIs 該当箇所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709160"/>
            <a:ext cx="562356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950" b="1" i="0">
                <a:solidFill>
                  <a:srgbClr val="C41E1E"/>
                </a:solidFill>
                <a:latin typeface="Meiryo UI"/>
                <a:ea typeface="Meiryo UI"/>
              </a:rPr>
              <a:t>B-1 </a:t>
            </a:r>
            <a:r>
              <a:rPr sz="950" b="0" i="0">
                <a:solidFill>
                  <a:srgbClr val="333333"/>
                </a:solidFill>
                <a:latin typeface="Meiryo UI"/>
                <a:ea typeface="Meiryo UI"/>
              </a:rPr>
              <a:t>（最重要）1ページ8000px超に全情報を積層、目次が皆無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950" b="1" i="0">
                <a:solidFill>
                  <a:srgbClr val="C41E1E"/>
                </a:solidFill>
                <a:latin typeface="Meiryo UI"/>
                <a:ea typeface="Meiryo UI"/>
              </a:rPr>
              <a:t>① </a:t>
            </a:r>
            <a:r>
              <a:rPr sz="950" b="0" i="0">
                <a:solidFill>
                  <a:srgbClr val="333333"/>
                </a:solidFill>
                <a:latin typeface="Meiryo UI"/>
                <a:ea typeface="Meiryo UI"/>
              </a:rPr>
              <a:t>B-6　帯見出しと黄色マーカーの装飾が二重で不統一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950" b="1" i="0">
                <a:solidFill>
                  <a:srgbClr val="C41E1E"/>
                </a:solidFill>
                <a:latin typeface="Meiryo UI"/>
                <a:ea typeface="Meiryo UI"/>
              </a:rPr>
              <a:t>② </a:t>
            </a:r>
            <a:r>
              <a:rPr sz="950" b="0" i="0">
                <a:solidFill>
                  <a:srgbClr val="333333"/>
                </a:solidFill>
                <a:latin typeface="Meiryo UI"/>
                <a:ea typeface="Meiryo UI"/>
              </a:rPr>
              <a:t>B-5　ラベルがなく何をするカードか分からない</a:t>
            </a:r>
          </a:p>
        </p:txBody>
      </p:sp>
      <p:pic>
        <p:nvPicPr>
          <p:cNvPr id="21" name="Picture 20" descr="tobe_brand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1756" y="1645920"/>
            <a:ext cx="3675888" cy="367588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9282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66666"/>
                </a:solidFill>
                <a:latin typeface="Meiryo UI"/>
                <a:ea typeface="Meiryo UI"/>
              </a:rPr>
              <a:t>社外秘（Confidential）— AKKODiSコンサルティング株式会社 マーケティング部内限り｜② ブランドライブラリ（1/2）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59282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666666"/>
                </a:solidFill>
                <a:latin typeface="Meiryo UI"/>
                <a:ea typeface="Meiryo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Meiryo UI"/>
                <a:ea typeface="Meiryo UI"/>
              </a:rPr>
              <a:t>② ブランドライブラリ（2/2）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FE3F0"/>
                </a:solidFill>
                <a:latin typeface="Meiryo UI"/>
                <a:ea typeface="Meiryo UI"/>
              </a:rPr>
              <a:t>対象課題：B-2／B-3／B-4／B-5／B-6／B-7</a:t>
            </a:r>
          </a:p>
        </p:txBody>
      </p:sp>
      <p:sp>
        <p:nvSpPr>
          <p:cNvPr id="6" name="Rectangle 5"/>
          <p:cNvSpPr/>
          <p:nvPr/>
        </p:nvSpPr>
        <p:spPr>
          <a:xfrm>
            <a:off x="9539935" y="164592"/>
            <a:ext cx="2377440" cy="45720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39935" y="164592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01F33"/>
                </a:solidFill>
                <a:latin typeface="Meiryo UI"/>
                <a:ea typeface="Meiryo UI"/>
              </a:rPr>
              <a:t>brand_pc（最重要）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896112"/>
            <a:ext cx="2103120" cy="292608"/>
          </a:xfrm>
          <a:prstGeom prst="rect">
            <a:avLst/>
          </a:prstGeom>
          <a:solidFill>
            <a:srgbClr val="C4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896112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AsIs（現状）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896112"/>
            <a:ext cx="2103120" cy="292608"/>
          </a:xfrm>
          <a:prstGeom prst="rect">
            <a:avLst/>
          </a:prstGeom>
          <a:solidFill>
            <a:srgbClr val="005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896112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ToBe（改善後）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230368"/>
            <a:ext cx="11643055" cy="1280160"/>
          </a:xfrm>
          <a:prstGeom prst="rect">
            <a:avLst/>
          </a:prstGeom>
          <a:solidFill>
            <a:srgbClr val="F4F5F6"/>
          </a:solidFill>
          <a:ln w="9525">
            <a:solidFill>
              <a:srgbClr val="C7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276088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1F33"/>
                </a:solidFill>
                <a:latin typeface="Meiryo UI"/>
                <a:ea typeface="Meiryo UI"/>
              </a:rPr>
              <a:t>改善ポイント（課題→改善→効果）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504688"/>
            <a:ext cx="11368735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30" b="0" i="0">
                <a:solidFill>
                  <a:srgbClr val="333333"/>
                </a:solidFill>
                <a:latin typeface="Meiryo UI"/>
                <a:ea typeface="Meiryo UI"/>
              </a:rPr>
              <a:t>・ B-5：ラベルのない3枚のアイコンカードでアフォーダンスが不明 → クイックリンクにラベルテキストを追加 → クリック前に用途が分かる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30" b="0" i="0">
                <a:solidFill>
                  <a:srgbClr val="333333"/>
                </a:solidFill>
                <a:latin typeface="Meiryo UI"/>
                <a:ea typeface="Meiryo UI"/>
              </a:rPr>
              <a:t>・ B-6：冒頭見出しの黄色マーカーが帯見出しと二重表現で体裁が粗い → 帯見出し1種類に統一 → 視覚的な一貫性が向上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30" b="0" i="0">
                <a:solidFill>
                  <a:srgbClr val="333333"/>
                </a:solidFill>
                <a:latin typeface="Meiryo UI"/>
                <a:ea typeface="Meiryo UI"/>
              </a:rPr>
              <a:t>・ B-3：ロゴ掲載フローがフォーム→Teams→Salesforceを跨ぐ6ステップを長文で説明 → 番号付き手順＋関連テンプレ直リンクに整理 → 手続きの実行負荷を軽減（自動化は将来のL2拡張）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30" b="0" i="0">
                <a:solidFill>
                  <a:srgbClr val="333333"/>
                </a:solidFill>
                <a:latin typeface="Meiryo UI"/>
                <a:ea typeface="Meiryo UI"/>
              </a:rPr>
              <a:t>・ B-7：モバイルは各セクションを折りたたみ表示にし、目次からのアンカー遷移を主動線にすることで長尺化を体感上緩和</a:t>
            </a:r>
          </a:p>
        </p:txBody>
      </p:sp>
      <p:pic>
        <p:nvPicPr>
          <p:cNvPr id="15" name="Picture 14" descr="asis_brand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433" y="1645920"/>
            <a:ext cx="2028773" cy="72109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17433" y="2376159"/>
            <a:ext cx="2028773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666666"/>
                </a:solidFill>
                <a:latin typeface="Meiryo UI"/>
                <a:ea typeface="Meiryo UI"/>
              </a:rPr>
              <a:t>Crop B（③④）</a:t>
            </a:r>
          </a:p>
        </p:txBody>
      </p:sp>
      <p:pic>
        <p:nvPicPr>
          <p:cNvPr id="17" name="Picture 16" descr="asis_brand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623" y="2513319"/>
            <a:ext cx="2130393" cy="46597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066623" y="2988441"/>
            <a:ext cx="2130393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666666"/>
                </a:solidFill>
                <a:latin typeface="Meiryo UI"/>
                <a:ea typeface="Meiryo UI"/>
              </a:rPr>
              <a:t>Crop C（⑤）</a:t>
            </a:r>
          </a:p>
        </p:txBody>
      </p:sp>
      <p:pic>
        <p:nvPicPr>
          <p:cNvPr id="19" name="Picture 18" descr="asis_brand_pc_vs_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6090" y="3125601"/>
            <a:ext cx="531459" cy="92518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537459" y="4059934"/>
            <a:ext cx="118872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666666"/>
                </a:solidFill>
                <a:latin typeface="Meiryo UI"/>
                <a:ea typeface="Meiryo UI"/>
              </a:rPr>
              <a:t>PC/SP 全長比較（B-7）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288536"/>
            <a:ext cx="5623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1F33"/>
                </a:solidFill>
                <a:latin typeface="Meiryo UI"/>
                <a:ea typeface="Meiryo UI"/>
              </a:rPr>
              <a:t>AsIs 該当箇所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4526280"/>
            <a:ext cx="562356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950" b="1" i="0">
                <a:solidFill>
                  <a:srgbClr val="C41E1E"/>
                </a:solidFill>
                <a:latin typeface="Meiryo UI"/>
                <a:ea typeface="Meiryo UI"/>
              </a:rPr>
              <a:t>③ </a:t>
            </a:r>
            <a:r>
              <a:rPr sz="950" b="0" i="0">
                <a:solidFill>
                  <a:srgbClr val="333333"/>
                </a:solidFill>
                <a:latin typeface="Meiryo UI"/>
                <a:ea typeface="Meiryo UI"/>
              </a:rPr>
              <a:t>B-2　粒度も種類も違う資料が10本フラットに並ぶ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950" b="1" i="0">
                <a:solidFill>
                  <a:srgbClr val="C41E1E"/>
                </a:solidFill>
                <a:latin typeface="Meiryo UI"/>
                <a:ea typeface="Meiryo UI"/>
              </a:rPr>
              <a:t>④ </a:t>
            </a:r>
            <a:r>
              <a:rPr sz="950" b="0" i="0">
                <a:solidFill>
                  <a:srgbClr val="333333"/>
                </a:solidFill>
                <a:latin typeface="Meiryo UI"/>
                <a:ea typeface="Meiryo UI"/>
              </a:rPr>
              <a:t>B-4　Akkodis／AKKODiSなど表記が資料ごとに混在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950" b="1" i="0">
                <a:solidFill>
                  <a:srgbClr val="C41E1E"/>
                </a:solidFill>
                <a:latin typeface="Meiryo UI"/>
                <a:ea typeface="Meiryo UI"/>
              </a:rPr>
              <a:t>⑤ </a:t>
            </a:r>
            <a:r>
              <a:rPr sz="950" b="0" i="0">
                <a:solidFill>
                  <a:srgbClr val="333333"/>
                </a:solidFill>
                <a:latin typeface="Meiryo UI"/>
                <a:ea typeface="Meiryo UI"/>
              </a:rPr>
              <a:t>B-3　フォーム→Teams→Salesforceを跨ぐ6手順が長文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950" b="1" i="0">
                <a:solidFill>
                  <a:srgbClr val="C41E1E"/>
                </a:solidFill>
                <a:latin typeface="Meiryo UI"/>
                <a:ea typeface="Meiryo UI"/>
              </a:rPr>
              <a:t>B-7 </a:t>
            </a:r>
            <a:r>
              <a:rPr sz="950" b="0" i="0">
                <a:solidFill>
                  <a:srgbClr val="333333"/>
                </a:solidFill>
                <a:latin typeface="Meiryo UI"/>
                <a:ea typeface="Meiryo UI"/>
              </a:rPr>
              <a:t>SP版はPC版よりさらに長尺（12,196px／PC 8,203px）</a:t>
            </a:r>
          </a:p>
        </p:txBody>
      </p:sp>
      <p:pic>
        <p:nvPicPr>
          <p:cNvPr id="23" name="Picture 22" descr="tobe_brand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9795" y="1645920"/>
            <a:ext cx="2639809" cy="3493008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59282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66666"/>
                </a:solidFill>
                <a:latin typeface="Meiryo UI"/>
                <a:ea typeface="Meiryo UI"/>
              </a:rPr>
              <a:t>社外秘（Confidential）— AKKODiSコンサルティング株式会社 マーケティング部内限り｜② ブランドライブラリ（2/2）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9282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666666"/>
                </a:solidFill>
                <a:latin typeface="Meiryo UI"/>
                <a:ea typeface="Meiryo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Meiryo UI"/>
                <a:ea typeface="Meiryo UI"/>
              </a:rPr>
              <a:t>③ クライアント向け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FE3F0"/>
                </a:solidFill>
                <a:latin typeface="Meiryo UI"/>
                <a:ea typeface="Meiryo UI"/>
              </a:rPr>
              <a:t>対象課題：C-1／C-2／C-3（Good・参照モデル）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9539935" y="164592"/>
            <a:ext cx="2377440" cy="45720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39935" y="164592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01F33"/>
                </a:solidFill>
                <a:latin typeface="Meiryo UI"/>
                <a:ea typeface="Meiryo UI"/>
              </a:rPr>
              <a:t>client_pc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896112"/>
            <a:ext cx="2103120" cy="292608"/>
          </a:xfrm>
          <a:prstGeom prst="rect">
            <a:avLst/>
          </a:prstGeom>
          <a:solidFill>
            <a:srgbClr val="C4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896112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AsIs（現状）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896112"/>
            <a:ext cx="2103120" cy="292608"/>
          </a:xfrm>
          <a:prstGeom prst="rect">
            <a:avLst/>
          </a:prstGeom>
          <a:solidFill>
            <a:srgbClr val="005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896112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ToBe（改善後）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413248"/>
            <a:ext cx="11643055" cy="1097280"/>
          </a:xfrm>
          <a:prstGeom prst="rect">
            <a:avLst/>
          </a:prstGeom>
          <a:solidFill>
            <a:srgbClr val="F4F5F6"/>
          </a:solidFill>
          <a:ln w="9525">
            <a:solidFill>
              <a:srgbClr val="C7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458968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1F33"/>
                </a:solidFill>
                <a:latin typeface="Meiryo UI"/>
                <a:ea typeface="Meiryo UI"/>
              </a:rPr>
              <a:t>改善ポイント（課題→改善→効果）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687568"/>
            <a:ext cx="11368735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30" b="0" i="0">
                <a:solidFill>
                  <a:srgbClr val="333333"/>
                </a:solidFill>
                <a:latin typeface="Meiryo UI"/>
                <a:ea typeface="Meiryo UI"/>
              </a:rPr>
              <a:t>・ C-1：お役立ち資料が30本超のリンク羅列で説明文・絞り込みがない → メタデータ列付きドキュメントライブラリ＋カテゴリ別絞り込みに変更 → 目的資料の発見コストを削減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30" b="0" i="0">
                <a:solidFill>
                  <a:srgbClr val="333333"/>
                </a:solidFill>
                <a:latin typeface="Meiryo UI"/>
                <a:ea typeface="Meiryo UI"/>
              </a:rPr>
              <a:t>・ C-2：リンクに更新日・対象などのメタ情報がなく最新版か判別できない → 言語・更新日メタデータ列を付与 → 新旧・要否の判別が可能に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30" b="0" i="0">
                <a:solidFill>
                  <a:srgbClr val="333333"/>
                </a:solidFill>
                <a:latin typeface="Meiryo UI"/>
                <a:ea typeface="Meiryo UI"/>
              </a:rPr>
              <a:t>・ C-3：アンカーリンクが唯一機能している良い部分 → 構成をそのまま維持し他ページ（ブランド／パートナー）へ横展開 → 全ページで一貫した探索体験（G-1是正にも直結）</a:t>
            </a:r>
          </a:p>
        </p:txBody>
      </p:sp>
      <p:pic>
        <p:nvPicPr>
          <p:cNvPr id="15" name="Picture 14" descr="asis_clien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452" y="1645920"/>
            <a:ext cx="1364735" cy="116604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449452" y="2821106"/>
            <a:ext cx="1364735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666666"/>
                </a:solidFill>
                <a:latin typeface="Meiryo UI"/>
                <a:ea typeface="Meiryo UI"/>
              </a:rPr>
              <a:t>Crop1（①）</a:t>
            </a:r>
          </a:p>
        </p:txBody>
      </p:sp>
      <p:pic>
        <p:nvPicPr>
          <p:cNvPr id="17" name="Picture 16" descr="asis_clien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021" y="2958266"/>
            <a:ext cx="2665596" cy="127540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799021" y="4242815"/>
            <a:ext cx="266559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666666"/>
                </a:solidFill>
                <a:latin typeface="Meiryo UI"/>
                <a:ea typeface="Meiryo UI"/>
              </a:rPr>
              <a:t>Crop2（②③）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471416"/>
            <a:ext cx="5623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1F33"/>
                </a:solidFill>
                <a:latin typeface="Meiryo UI"/>
                <a:ea typeface="Meiryo UI"/>
              </a:rPr>
              <a:t>AsIs 該当箇所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709160"/>
            <a:ext cx="562356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950" b="1" i="0">
                <a:solidFill>
                  <a:srgbClr val="005AB5"/>
                </a:solidFill>
                <a:latin typeface="Meiryo UI"/>
                <a:ea typeface="Meiryo UI"/>
              </a:rPr>
              <a:t>① </a:t>
            </a:r>
            <a:r>
              <a:rPr sz="950" b="0" i="0">
                <a:solidFill>
                  <a:srgbClr val="333333"/>
                </a:solidFill>
                <a:latin typeface="Meiryo UI"/>
                <a:ea typeface="Meiryo UI"/>
              </a:rPr>
              <a:t>C-3（Good）ページ内ジャンプが機能する唯一の良い例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950" b="1" i="0">
                <a:solidFill>
                  <a:srgbClr val="C41E1E"/>
                </a:solidFill>
                <a:latin typeface="Meiryo UI"/>
                <a:ea typeface="Meiryo UI"/>
              </a:rPr>
              <a:t>② </a:t>
            </a:r>
            <a:r>
              <a:rPr sz="950" b="0" i="0">
                <a:solidFill>
                  <a:srgbClr val="333333"/>
                </a:solidFill>
                <a:latin typeface="Meiryo UI"/>
                <a:ea typeface="Meiryo UI"/>
              </a:rPr>
              <a:t>C-1　30本超がメタ情報なしに羅列されるだけ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950" b="1" i="0">
                <a:solidFill>
                  <a:srgbClr val="C41E1E"/>
                </a:solidFill>
                <a:latin typeface="Meiryo UI"/>
                <a:ea typeface="Meiryo UI"/>
              </a:rPr>
              <a:t>③ </a:t>
            </a:r>
            <a:r>
              <a:rPr sz="950" b="0" i="0">
                <a:solidFill>
                  <a:srgbClr val="333333"/>
                </a:solidFill>
                <a:latin typeface="Meiryo UI"/>
                <a:ea typeface="Meiryo UI"/>
              </a:rPr>
              <a:t>C-2　更新日・対象がなく新旧・要否が判別不可</a:t>
            </a:r>
          </a:p>
        </p:txBody>
      </p:sp>
      <p:pic>
        <p:nvPicPr>
          <p:cNvPr id="21" name="Picture 20" descr="tobe_cl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1204" y="1645920"/>
            <a:ext cx="3156990" cy="367588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9282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66666"/>
                </a:solidFill>
                <a:latin typeface="Meiryo UI"/>
                <a:ea typeface="Meiryo UI"/>
              </a:rPr>
              <a:t>社外秘（Confidential）— AKKODiSコンサルティング株式会社 マーケティング部内限り｜③ クライアント向け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59282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666666"/>
                </a:solidFill>
                <a:latin typeface="Meiryo UI"/>
                <a:ea typeface="Meiryo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Meiryo UI"/>
                <a:ea typeface="Meiryo UI"/>
              </a:rPr>
              <a:t>④ キャンディデート向け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FE3F0"/>
                </a:solidFill>
                <a:latin typeface="Meiryo UI"/>
                <a:ea typeface="Meiryo UI"/>
              </a:rPr>
              <a:t>対象課題：CA-1（最重要・クイックウィン）／CA-2（Good・参照モデル）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9539935" y="164592"/>
            <a:ext cx="2377440" cy="45720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39935" y="164592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01F33"/>
                </a:solidFill>
                <a:latin typeface="Meiryo UI"/>
                <a:ea typeface="Meiryo UI"/>
              </a:rPr>
              <a:t>candidate_pc（最重要）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896112"/>
            <a:ext cx="2103120" cy="292608"/>
          </a:xfrm>
          <a:prstGeom prst="rect">
            <a:avLst/>
          </a:prstGeom>
          <a:solidFill>
            <a:srgbClr val="C4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896112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AsIs（現状）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896112"/>
            <a:ext cx="2103120" cy="292608"/>
          </a:xfrm>
          <a:prstGeom prst="rect">
            <a:avLst/>
          </a:prstGeom>
          <a:solidFill>
            <a:srgbClr val="005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896112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ToBe（改善後）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458968"/>
            <a:ext cx="11643055" cy="1051560"/>
          </a:xfrm>
          <a:prstGeom prst="rect">
            <a:avLst/>
          </a:prstGeom>
          <a:solidFill>
            <a:srgbClr val="F4F5F6"/>
          </a:solidFill>
          <a:ln w="9525">
            <a:solidFill>
              <a:srgbClr val="C7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504688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1F33"/>
                </a:solidFill>
                <a:latin typeface="Meiryo UI"/>
                <a:ea typeface="Meiryo UI"/>
              </a:rPr>
              <a:t>改善ポイント（課題→改善→効果）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733288"/>
            <a:ext cx="11368735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30" b="0" i="0">
                <a:solidFill>
                  <a:srgbClr val="333333"/>
                </a:solidFill>
                <a:latin typeface="Meiryo UI"/>
                <a:ea typeface="Meiryo UI"/>
              </a:rPr>
              <a:t>・ CA-1（最重要）：マスター資料が「各チームに直接連絡」で完結し資料が入手できない → ドキュメントライブラリへの直リンク＋クイックリンクに置換、連絡先はメタデータとして保持 → 「見つからずメール検索」を誘発する典型例を最短コストで即時解消（クイックウィン）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30" b="0" i="0">
                <a:solidFill>
                  <a:srgbClr val="333333"/>
                </a:solidFill>
                <a:latin typeface="Meiryo UI"/>
                <a:ea typeface="Meiryo UI"/>
              </a:rPr>
              <a:t>・ CA-2：ページ構成自体は簡潔で見やすい → 3セクション構成をそのまま維持し他ページ改善の目標形にする → 情報量の少なさではなく「構造の分かりやすさ」を他ページ（特にブランドライブラリ）へ横展開する参照モデルとして活用</a:t>
            </a:r>
          </a:p>
        </p:txBody>
      </p:sp>
      <p:pic>
        <p:nvPicPr>
          <p:cNvPr id="15" name="Picture 14" descr="asis_candi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413" y="1645920"/>
            <a:ext cx="2394813" cy="30266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20040" y="4764024"/>
            <a:ext cx="5623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1F33"/>
                </a:solidFill>
                <a:latin typeface="Meiryo UI"/>
                <a:ea typeface="Meiryo UI"/>
              </a:rPr>
              <a:t>AsIs 該当箇所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5001768"/>
            <a:ext cx="562356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950" b="1" i="0">
                <a:solidFill>
                  <a:srgbClr val="C41E1E"/>
                </a:solidFill>
                <a:latin typeface="Meiryo UI"/>
                <a:ea typeface="Meiryo UI"/>
              </a:rPr>
              <a:t>① </a:t>
            </a:r>
            <a:r>
              <a:rPr sz="950" b="0" i="0">
                <a:solidFill>
                  <a:srgbClr val="333333"/>
                </a:solidFill>
                <a:latin typeface="Meiryo UI"/>
                <a:ea typeface="Meiryo UI"/>
              </a:rPr>
              <a:t>CA-1（最重要）直リンクがなく連絡しないと資料が手に入らない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950" b="1" i="0">
                <a:solidFill>
                  <a:srgbClr val="005AB5"/>
                </a:solidFill>
                <a:latin typeface="Meiryo UI"/>
                <a:ea typeface="Meiryo UI"/>
              </a:rPr>
              <a:t>② </a:t>
            </a:r>
            <a:r>
              <a:rPr sz="950" b="0" i="0">
                <a:solidFill>
                  <a:srgbClr val="333333"/>
                </a:solidFill>
                <a:latin typeface="Meiryo UI"/>
                <a:ea typeface="Meiryo UI"/>
              </a:rPr>
              <a:t>CA-2（Good）3セクションのみで簡潔・他ページの参照モデル</a:t>
            </a:r>
          </a:p>
        </p:txBody>
      </p:sp>
      <p:pic>
        <p:nvPicPr>
          <p:cNvPr id="18" name="Picture 17" descr="tobe_candid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288" y="1645920"/>
            <a:ext cx="2948822" cy="309981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172200" y="4818888"/>
            <a:ext cx="5715000" cy="548640"/>
          </a:xfrm>
          <a:prstGeom prst="rect">
            <a:avLst/>
          </a:prstGeom>
          <a:solidFill>
            <a:srgbClr val="E9F3E9"/>
          </a:solidFill>
          <a:ln w="12700">
            <a:solidFill>
              <a:srgbClr val="3A7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8" y="4882896"/>
            <a:ext cx="54955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30" b="1" i="0">
                <a:solidFill>
                  <a:srgbClr val="2E632E"/>
                </a:solidFill>
                <a:latin typeface="Meiryo UI"/>
                <a:ea typeface="Meiryo UI"/>
              </a:rPr>
              <a:t>クイックウィン：L1（既存パーツ）・費用ゼロで即着手可能。docs/02 §5・§8の最優先クイックウィンに一致。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59282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66666"/>
                </a:solidFill>
                <a:latin typeface="Meiryo UI"/>
                <a:ea typeface="Meiryo UI"/>
              </a:rPr>
              <a:t>社外秘（Confidential）— AKKODiSコンサルティング株式会社 マーケティング部内限り｜④ キャンディデート向け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0" y="659282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666666"/>
                </a:solidFill>
                <a:latin typeface="Meiryo UI"/>
                <a:ea typeface="Meiryo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Meiryo UI"/>
                <a:ea typeface="Meiryo UI"/>
              </a:rPr>
              <a:t>⑤ グローバルブランドパートナーシップ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FE3F0"/>
                </a:solidFill>
                <a:latin typeface="Meiryo UI"/>
                <a:ea typeface="Meiryo UI"/>
              </a:rPr>
              <a:t>対象課題：P-1／P-2</a:t>
            </a:r>
          </a:p>
        </p:txBody>
      </p:sp>
      <p:sp>
        <p:nvSpPr>
          <p:cNvPr id="6" name="Rectangle 5"/>
          <p:cNvSpPr/>
          <p:nvPr/>
        </p:nvSpPr>
        <p:spPr>
          <a:xfrm>
            <a:off x="9539935" y="164592"/>
            <a:ext cx="2377440" cy="45720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39935" y="164592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01F33"/>
                </a:solidFill>
                <a:latin typeface="Meiryo UI"/>
                <a:ea typeface="Meiryo UI"/>
              </a:rPr>
              <a:t>partner_pc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896112"/>
            <a:ext cx="2103120" cy="292608"/>
          </a:xfrm>
          <a:prstGeom prst="rect">
            <a:avLst/>
          </a:prstGeom>
          <a:solidFill>
            <a:srgbClr val="C4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896112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AsIs（現状）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896112"/>
            <a:ext cx="2103120" cy="292608"/>
          </a:xfrm>
          <a:prstGeom prst="rect">
            <a:avLst/>
          </a:prstGeom>
          <a:solidFill>
            <a:srgbClr val="005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896112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ToBe（改善後）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458968"/>
            <a:ext cx="11643055" cy="1051560"/>
          </a:xfrm>
          <a:prstGeom prst="rect">
            <a:avLst/>
          </a:prstGeom>
          <a:solidFill>
            <a:srgbClr val="F4F5F6"/>
          </a:solidFill>
          <a:ln w="9525">
            <a:solidFill>
              <a:srgbClr val="C7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504688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1F33"/>
                </a:solidFill>
                <a:latin typeface="Meiryo UI"/>
                <a:ea typeface="Meiryo UI"/>
              </a:rPr>
              <a:t>改善ポイント（課題→改善→効果）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733288"/>
            <a:ext cx="11368735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30" b="0" i="0">
                <a:solidFill>
                  <a:srgbClr val="333333"/>
                </a:solidFill>
                <a:latin typeface="Meiryo UI"/>
                <a:ea typeface="Meiryo UI"/>
              </a:rPr>
              <a:t>・ P-1：Akkodis ASP Teamのみ画像枠が破綻し体裁が揃わない → 現物確認の上、画像差し替えまたは枠削除で他2チームと構造を統一 → 3パートナーの見え方の一貫性を回復（低コスト・クイックウィン）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30" b="0" i="0">
                <a:solidFill>
                  <a:srgbClr val="333333"/>
                </a:solidFill>
                <a:latin typeface="Meiryo UI"/>
                <a:ea typeface="Meiryo UI"/>
              </a:rPr>
              <a:t>・ P-2：長尺ページなのにページ内ナビがなくクライアントページのアンカー導線と不統一 → 3パートナーへのページ内目次を新設 → 目的パートナーへの直接到達が可能に（G-1是正の一環）</a:t>
            </a:r>
          </a:p>
        </p:txBody>
      </p:sp>
      <p:pic>
        <p:nvPicPr>
          <p:cNvPr id="15" name="Picture 14" descr="asis_partner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234" y="1645920"/>
            <a:ext cx="3371171" cy="13825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46234" y="3037636"/>
            <a:ext cx="3371171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666666"/>
                </a:solidFill>
                <a:latin typeface="Meiryo UI"/>
                <a:ea typeface="Meiryo UI"/>
              </a:rPr>
              <a:t>Crop1（①）</a:t>
            </a:r>
          </a:p>
        </p:txBody>
      </p:sp>
      <p:pic>
        <p:nvPicPr>
          <p:cNvPr id="17" name="Picture 16" descr="asis_partner_thumbn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099" y="3174796"/>
            <a:ext cx="329440" cy="110459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537459" y="4288535"/>
            <a:ext cx="118872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666666"/>
                </a:solidFill>
                <a:latin typeface="Meiryo UI"/>
                <a:ea typeface="Meiryo UI"/>
              </a:rPr>
              <a:t>全体縮尺（②）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517136"/>
            <a:ext cx="5623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1F33"/>
                </a:solidFill>
                <a:latin typeface="Meiryo UI"/>
                <a:ea typeface="Meiryo UI"/>
              </a:rPr>
              <a:t>AsIs 該当箇所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754880"/>
            <a:ext cx="562356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950" b="1" i="0">
                <a:solidFill>
                  <a:srgbClr val="C41E1E"/>
                </a:solidFill>
                <a:latin typeface="Meiryo UI"/>
                <a:ea typeface="Meiryo UI"/>
              </a:rPr>
              <a:t>① </a:t>
            </a:r>
            <a:r>
              <a:rPr sz="950" b="0" i="0">
                <a:solidFill>
                  <a:srgbClr val="333333"/>
                </a:solidFill>
                <a:latin typeface="Meiryo UI"/>
                <a:ea typeface="Meiryo UI"/>
              </a:rPr>
              <a:t>P-1　ASPチームだけ画像が読み込まれず体裁が崩れる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950" b="1" i="0">
                <a:solidFill>
                  <a:srgbClr val="C41E1E"/>
                </a:solidFill>
                <a:latin typeface="Meiryo UI"/>
                <a:ea typeface="Meiryo UI"/>
              </a:rPr>
              <a:t>② </a:t>
            </a:r>
            <a:r>
              <a:rPr sz="950" b="0" i="0">
                <a:solidFill>
                  <a:srgbClr val="333333"/>
                </a:solidFill>
                <a:latin typeface="Meiryo UI"/>
                <a:ea typeface="Meiryo UI"/>
              </a:rPr>
              <a:t>P-2　長尺スクロールなのにページ内ジャンプがない</a:t>
            </a:r>
          </a:p>
        </p:txBody>
      </p:sp>
      <p:pic>
        <p:nvPicPr>
          <p:cNvPr id="21" name="Picture 20" descr="tobe_part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105" y="1645920"/>
            <a:ext cx="4637189" cy="372160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9282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66666"/>
                </a:solidFill>
                <a:latin typeface="Meiryo UI"/>
                <a:ea typeface="Meiryo UI"/>
              </a:rPr>
              <a:t>社外秘（Confidential）— AKKODiSコンサルティング株式会社 マーケティング部内限り｜⑤ グローバルブランドパートナーシップ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59282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666666"/>
                </a:solidFill>
                <a:latin typeface="Meiryo UI"/>
                <a:ea typeface="Meiryo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Meiryo UI"/>
                <a:ea typeface="Meiryo UI"/>
              </a:rPr>
              <a:t>横断課題サマリー（G-1〜G-4）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FE3F0"/>
                </a:solidFill>
                <a:latin typeface="Meiryo UI"/>
                <a:ea typeface="Meiryo UI"/>
              </a:rPr>
              <a:t>全ページ共通テンプレート化で解決する4つの構造課題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9539935" y="164592"/>
            <a:ext cx="2377440" cy="45720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39935" y="164592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01F33"/>
                </a:solidFill>
                <a:latin typeface="Meiryo UI"/>
                <a:ea typeface="Meiryo UI"/>
              </a:rPr>
              <a:t>全ページ横断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1440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1F33"/>
                </a:solidFill>
                <a:latin typeface="Meiryo UI"/>
                <a:ea typeface="Meiryo UI"/>
              </a:rPr>
              <a:t>AsIs：各ページから代表箇所を抜粋</a:t>
            </a:r>
          </a:p>
        </p:txBody>
      </p:sp>
      <p:pic>
        <p:nvPicPr>
          <p:cNvPr id="9" name="Picture 8" descr="asis_g1_cl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90914"/>
            <a:ext cx="1371600" cy="12596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0040" y="1152144"/>
            <a:ext cx="1371600" cy="603504"/>
          </a:xfrm>
          <a:prstGeom prst="rect">
            <a:avLst/>
          </a:prstGeom>
          <a:noFill/>
          <a:ln w="6350">
            <a:solidFill>
              <a:srgbClr val="C7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7647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30" b="0" i="0">
                <a:solidFill>
                  <a:srgbClr val="666666"/>
                </a:solidFill>
                <a:latin typeface="Meiryo UI"/>
                <a:ea typeface="Meiryo UI"/>
              </a:rPr>
              <a:t>G-1｜client_pc：アンカー有（Good）</a:t>
            </a:r>
          </a:p>
        </p:txBody>
      </p:sp>
      <p:pic>
        <p:nvPicPr>
          <p:cNvPr id="12" name="Picture 11" descr="asis_g1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383916"/>
            <a:ext cx="1371600" cy="13995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737360" y="1152144"/>
            <a:ext cx="1371600" cy="603504"/>
          </a:xfrm>
          <a:prstGeom prst="rect">
            <a:avLst/>
          </a:prstGeom>
          <a:noFill/>
          <a:ln w="6350">
            <a:solidFill>
              <a:srgbClr val="C7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17647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30" b="0" i="0">
                <a:solidFill>
                  <a:srgbClr val="666666"/>
                </a:solidFill>
                <a:latin typeface="Meiryo UI"/>
                <a:ea typeface="Meiryo UI"/>
              </a:rPr>
              <a:t>G-1｜brand_pc：アンカー無（該当なし）</a:t>
            </a:r>
          </a:p>
        </p:txBody>
      </p:sp>
      <p:pic>
        <p:nvPicPr>
          <p:cNvPr id="15" name="Picture 14" descr="asis_g2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1361898"/>
            <a:ext cx="1371600" cy="18399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3154680" y="1152144"/>
            <a:ext cx="1371600" cy="603504"/>
          </a:xfrm>
          <a:prstGeom prst="rect">
            <a:avLst/>
          </a:prstGeom>
          <a:noFill/>
          <a:ln w="6350">
            <a:solidFill>
              <a:srgbClr val="C7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80" y="17647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30" b="0" i="0">
                <a:solidFill>
                  <a:srgbClr val="666666"/>
                </a:solidFill>
                <a:latin typeface="Meiryo UI"/>
                <a:ea typeface="Meiryo UI"/>
              </a:rPr>
              <a:t>G-2｜検索ボックス（絞り込み無）</a:t>
            </a:r>
          </a:p>
        </p:txBody>
      </p:sp>
      <p:pic>
        <p:nvPicPr>
          <p:cNvPr id="18" name="Picture 17" descr="asis_g3_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306939"/>
            <a:ext cx="1371600" cy="29391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72000" y="1152144"/>
            <a:ext cx="1371600" cy="603504"/>
          </a:xfrm>
          <a:prstGeom prst="rect">
            <a:avLst/>
          </a:prstGeom>
          <a:noFill/>
          <a:ln w="6350">
            <a:solidFill>
              <a:srgbClr val="C7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17647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30" b="0" i="0">
                <a:solidFill>
                  <a:srgbClr val="666666"/>
                </a:solidFill>
                <a:latin typeface="Meiryo UI"/>
                <a:ea typeface="Meiryo UI"/>
              </a:rPr>
              <a:t>G-3｜top_pc：業務依頼フォーム</a:t>
            </a:r>
          </a:p>
        </p:txBody>
      </p:sp>
      <p:pic>
        <p:nvPicPr>
          <p:cNvPr id="21" name="Picture 20" descr="asis_g3_bra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294155"/>
            <a:ext cx="1371600" cy="14828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320040" y="2066544"/>
            <a:ext cx="1371600" cy="603504"/>
          </a:xfrm>
          <a:prstGeom prst="rect">
            <a:avLst/>
          </a:prstGeom>
          <a:noFill/>
          <a:ln w="6350">
            <a:solidFill>
              <a:srgbClr val="C7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6791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30" b="0" i="0">
                <a:solidFill>
                  <a:srgbClr val="666666"/>
                </a:solidFill>
                <a:latin typeface="Meiryo UI"/>
                <a:ea typeface="Meiryo UI"/>
              </a:rPr>
              <a:t>G-3｜brand_pc：Marketing部依頼フォーム</a:t>
            </a:r>
          </a:p>
        </p:txBody>
      </p:sp>
      <p:pic>
        <p:nvPicPr>
          <p:cNvPr id="24" name="Picture 23" descr="asis_g3_candida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7360" y="2336023"/>
            <a:ext cx="1371600" cy="64545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737360" y="2066544"/>
            <a:ext cx="1371600" cy="603504"/>
          </a:xfrm>
          <a:prstGeom prst="rect">
            <a:avLst/>
          </a:prstGeom>
          <a:noFill/>
          <a:ln w="6350">
            <a:solidFill>
              <a:srgbClr val="C7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0" y="26791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30" b="0" i="0">
                <a:solidFill>
                  <a:srgbClr val="666666"/>
                </a:solidFill>
                <a:latin typeface="Meiryo UI"/>
                <a:ea typeface="Meiryo UI"/>
              </a:rPr>
              <a:t>G-3｜candidate_pc：各チーム連絡</a:t>
            </a:r>
          </a:p>
        </p:txBody>
      </p:sp>
      <p:pic>
        <p:nvPicPr>
          <p:cNvPr id="27" name="Picture 26" descr="asis_g4_nav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4680" y="2182945"/>
            <a:ext cx="1371600" cy="37070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3154680" y="2066544"/>
            <a:ext cx="1371600" cy="603504"/>
          </a:xfrm>
          <a:prstGeom prst="rect">
            <a:avLst/>
          </a:prstGeom>
          <a:noFill/>
          <a:ln w="6350">
            <a:solidFill>
              <a:srgbClr val="C7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54680" y="26791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30" b="0" i="0">
                <a:solidFill>
                  <a:srgbClr val="666666"/>
                </a:solidFill>
                <a:latin typeface="Meiryo UI"/>
                <a:ea typeface="Meiryo UI"/>
              </a:rPr>
              <a:t>G-4｜ナビ末尾「編集のナビゲーション」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303580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1F33"/>
                </a:solidFill>
                <a:latin typeface="Meiryo UI"/>
                <a:ea typeface="Meiryo UI"/>
              </a:rPr>
              <a:t>ToBe：全ページ共通テンプレート化（§6-2）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3291840"/>
            <a:ext cx="115214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19" b="0" i="0">
                <a:solidFill>
                  <a:srgbClr val="333333"/>
                </a:solidFill>
                <a:latin typeface="Meiryo UI"/>
                <a:ea typeface="Meiryo UI"/>
              </a:rPr>
              <a:t>・ [検索ボックス web part]（G-2対応の核）：全ページヘッダー直下・共通位置に常設。Microsoft Search＋[ハイライトされたコンテンツ web part]の動的クエリを組合せ。高度ファセットはL2/L3のため将来拡張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19" b="0" i="0">
                <a:solidFill>
                  <a:srgbClr val="333333"/>
                </a:solidFill>
                <a:latin typeface="Meiryo UI"/>
                <a:ea typeface="Meiryo UI"/>
              </a:rPr>
              <a:t>・ [ページ内リンク／セクションアンカー web part]（G-1対応）：全ページ冒頭にページ内目次を置くフォーマットを統一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19" b="0" i="0">
                <a:solidFill>
                  <a:srgbClr val="333333"/>
                </a:solidFill>
                <a:latin typeface="Meiryo UI"/>
                <a:ea typeface="Meiryo UI"/>
              </a:rPr>
              <a:t>・ 帯見出しのビジュアル統一（G-1／B-6共通）：黄色帯＋黄色マーカーの二重表現をやめ帯見出し1種類に統一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19" b="0" i="0">
                <a:solidFill>
                  <a:srgbClr val="333333"/>
                </a:solidFill>
                <a:latin typeface="Meiryo UI"/>
                <a:ea typeface="Meiryo UI"/>
              </a:rPr>
              <a:t>・ 「窓口案内」の共通化（G-3対応）：業務依頼フォーム／ブランドレビュー手順／各チーム連絡先を共通フォーマットのクイックリンクブロックとして各ページ末尾または目次に集約表示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19" b="0" i="0">
                <a:solidFill>
                  <a:srgbClr val="333333"/>
                </a:solidFill>
                <a:latin typeface="Meiryo UI"/>
                <a:ea typeface="Meiryo UI"/>
              </a:rPr>
              <a:t>・ G-4：デザイン設計ではなくSharePoint権限・表示設定の確認事項。次ステップF0（テナント棚卸し）で確認する運用課題として扱う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910328"/>
            <a:ext cx="11643055" cy="1600200"/>
          </a:xfrm>
          <a:prstGeom prst="rect">
            <a:avLst/>
          </a:prstGeom>
          <a:solidFill>
            <a:srgbClr val="F4F5F6"/>
          </a:solidFill>
          <a:ln w="9525">
            <a:solidFill>
              <a:srgbClr val="C7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956048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1F33"/>
                </a:solidFill>
                <a:latin typeface="Meiryo UI"/>
                <a:ea typeface="Meiryo UI"/>
              </a:rPr>
              <a:t>改善ポイント（課題→改善→効果）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184648"/>
            <a:ext cx="11368735" cy="1271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30" b="0" i="0">
                <a:solidFill>
                  <a:srgbClr val="333333"/>
                </a:solidFill>
                <a:latin typeface="Meiryo UI"/>
                <a:ea typeface="Meiryo UI"/>
              </a:rPr>
              <a:t>・ G-2（最重要）：標準検索はあるがページ内の絞り込み・ファセットがなく「見つからない→メール検索」の核心原因 → 全ページ共通位置に検索ボックス＋ハイライトされたコンテンツを設置 → 発見性の底上げ。将来的にファセット（L3）・AIアシスタント（L2）へ段階拡張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30" b="0" i="0">
                <a:solidFill>
                  <a:srgbClr val="333333"/>
                </a:solidFill>
                <a:latin typeface="Meiryo UI"/>
                <a:ea typeface="Meiryo UI"/>
              </a:rPr>
              <a:t>・ G-1：ページ間で構成（アンカー有無・装飾・密度）が不統一で回遊のたび探し方を学び直す必要がある → ページ内目次・帯見出しを全ページ共通テンプレート化 → 一貫した探索体験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30" b="0" i="0">
                <a:solidFill>
                  <a:srgbClr val="333333"/>
                </a:solidFill>
                <a:latin typeface="Meiryo UI"/>
                <a:ea typeface="Meiryo UI"/>
              </a:rPr>
              <a:t>・ G-3：窓口・相談導線が各所に分散 → 共通フォーマットの窓口案内ブロックを各ページに配置 → どの窓口を使うべきかが一目で分かる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30" b="0" i="0">
                <a:solidFill>
                  <a:srgbClr val="333333"/>
                </a:solidFill>
                <a:latin typeface="Meiryo UI"/>
                <a:ea typeface="Meiryo UI"/>
              </a:rPr>
              <a:t>・ G-4：ナビ末尾に「編集 のナビゲーション」が露出（編集者ビュー由来と見られ要確認） → デザイン変更ではなくSharePoint表示設定の確認事項としてF0（次ステップ）に回す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59282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66666"/>
                </a:solidFill>
                <a:latin typeface="Meiryo UI"/>
                <a:ea typeface="Meiryo UI"/>
              </a:rPr>
              <a:t>社外秘（Confidential）— AKKODiSコンサルティング株式会社 マーケティング部内限り｜横断課題サマリー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59282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666666"/>
                </a:solidFill>
                <a:latin typeface="Meiryo UI"/>
                <a:ea typeface="Meiryo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Meiryo UI"/>
                <a:ea typeface="Meiryo UI"/>
              </a:rPr>
              <a:t>次ステップ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FE3F0"/>
                </a:solidFill>
                <a:latin typeface="Meiryo UI"/>
                <a:ea typeface="Meiryo UI"/>
              </a:rPr>
              <a:t>フェーズ計画（F0〜F4）と社長判断3点（docs/02 §6）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9539935" y="164592"/>
            <a:ext cx="2377440" cy="45720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39935" y="164592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01F33"/>
                </a:solidFill>
                <a:latin typeface="Meiryo UI"/>
                <a:ea typeface="Meiryo UI"/>
              </a:rPr>
              <a:t>次アクション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2176272" cy="384048"/>
          </a:xfrm>
          <a:prstGeom prst="rect">
            <a:avLst/>
          </a:prstGeom>
          <a:solidFill>
            <a:srgbClr val="00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51560"/>
            <a:ext cx="21762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Meiryo UI"/>
                <a:ea typeface="Meiryo UI"/>
              </a:rPr>
              <a:t>F0　テナント棚卸し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35608"/>
            <a:ext cx="2176272" cy="1417320"/>
          </a:xfrm>
          <a:prstGeom prst="rect">
            <a:avLst/>
          </a:prstGeom>
          <a:solidFill>
            <a:srgbClr val="FFF7E2"/>
          </a:solidFill>
          <a:ln w="9525">
            <a:solidFill>
              <a:srgbClr val="C7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508760"/>
            <a:ext cx="204825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0" i="0">
                <a:solidFill>
                  <a:srgbClr val="333333"/>
                </a:solidFill>
                <a:latin typeface="Meiryo UI"/>
                <a:ea typeface="Meiryo UI"/>
              </a:rPr>
              <a:t>M365 Copilot／Copilot Studio／SharePoint Premium／Power Platformのライセンス確認、SPFxカスタムコード許可可否、IT窓口特定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2624328"/>
            <a:ext cx="2048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0" i="0">
                <a:solidFill>
                  <a:srgbClr val="666666"/>
                </a:solidFill>
                <a:latin typeface="Meiryo UI"/>
                <a:ea typeface="Meiryo UI"/>
              </a:rPr>
              <a:t>主担当: ops-manager（社長経由でIT窓口）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51176" y="1051560"/>
            <a:ext cx="2176272" cy="384048"/>
          </a:xfrm>
          <a:prstGeom prst="rect">
            <a:avLst/>
          </a:prstGeom>
          <a:solidFill>
            <a:srgbClr val="00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51176" y="1051560"/>
            <a:ext cx="21762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Meiryo UI"/>
                <a:ea typeface="Meiryo UI"/>
              </a:rPr>
              <a:t>F1　要件定義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51176" y="1435608"/>
            <a:ext cx="2176272" cy="1417320"/>
          </a:xfrm>
          <a:prstGeom prst="rect">
            <a:avLst/>
          </a:prstGeom>
          <a:solidFill>
            <a:srgbClr val="F4F5F6"/>
          </a:solidFill>
          <a:ln w="9525">
            <a:solidFill>
              <a:srgbClr val="C7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24328" y="1508760"/>
            <a:ext cx="204825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0" i="0">
                <a:solidFill>
                  <a:srgbClr val="333333"/>
                </a:solidFill>
                <a:latin typeface="Meiryo UI"/>
                <a:ea typeface="Meiryo UI"/>
              </a:rPr>
              <a:t>課題→機能要件化、対象利用者・権限区分、AIスコープ確定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4328" y="2624328"/>
            <a:ext cx="2048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0" i="0">
                <a:solidFill>
                  <a:srgbClr val="666666"/>
                </a:solidFill>
                <a:latin typeface="Meiryo UI"/>
                <a:ea typeface="Meiryo UI"/>
              </a:rPr>
              <a:t>主担当: ops-manager／marketer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82312" y="1051560"/>
            <a:ext cx="2176272" cy="384048"/>
          </a:xfrm>
          <a:prstGeom prst="rect">
            <a:avLst/>
          </a:prstGeom>
          <a:solidFill>
            <a:srgbClr val="00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82312" y="1051560"/>
            <a:ext cx="21762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Meiryo UI"/>
                <a:ea typeface="Meiryo UI"/>
              </a:rPr>
              <a:t>F2　SharePoint情報設計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82312" y="1435608"/>
            <a:ext cx="2176272" cy="1417320"/>
          </a:xfrm>
          <a:prstGeom prst="rect">
            <a:avLst/>
          </a:prstGeom>
          <a:solidFill>
            <a:srgbClr val="F4F5F6"/>
          </a:solidFill>
          <a:ln w="9525">
            <a:solidFill>
              <a:srgbClr val="C7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55464" y="1508760"/>
            <a:ext cx="204825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0" i="0">
                <a:solidFill>
                  <a:srgbClr val="333333"/>
                </a:solidFill>
                <a:latin typeface="Meiryo UI"/>
                <a:ea typeface="Meiryo UI"/>
              </a:rPr>
              <a:t>サイト構成・ナビ/IA・ページ設計・メタデータ列/コンテンツタイプ・権限方針・検索スキーマ方針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5464" y="2624328"/>
            <a:ext cx="2048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0" i="0">
                <a:solidFill>
                  <a:srgbClr val="666666"/>
                </a:solidFill>
                <a:latin typeface="Meiryo UI"/>
                <a:ea typeface="Meiryo UI"/>
              </a:rPr>
              <a:t>主担当: engineer／designer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13448" y="1051560"/>
            <a:ext cx="2176272" cy="384048"/>
          </a:xfrm>
          <a:prstGeom prst="rect">
            <a:avLst/>
          </a:prstGeom>
          <a:solidFill>
            <a:srgbClr val="00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13448" y="1051560"/>
            <a:ext cx="21762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Meiryo UI"/>
                <a:ea typeface="Meiryo UI"/>
              </a:rPr>
              <a:t>F3　L1 PoC／MVP構築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13448" y="1435608"/>
            <a:ext cx="2176272" cy="1417320"/>
          </a:xfrm>
          <a:prstGeom prst="rect">
            <a:avLst/>
          </a:prstGeom>
          <a:solidFill>
            <a:srgbClr val="F4F5F6"/>
          </a:solidFill>
          <a:ln w="9525">
            <a:solidFill>
              <a:srgbClr val="C7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1508760"/>
            <a:ext cx="204825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0" i="0">
                <a:solidFill>
                  <a:srgbClr val="333333"/>
                </a:solidFill>
                <a:latin typeface="Meiryo UI"/>
                <a:ea typeface="Meiryo UI"/>
              </a:rPr>
              <a:t>クイックウィン実装、ブランドライブラリ再構成、Microsoft Search+web part配置、Lists/Forms受付、メタデータ適用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24328"/>
            <a:ext cx="2048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0" i="0">
                <a:solidFill>
                  <a:srgbClr val="666666"/>
                </a:solidFill>
                <a:latin typeface="Meiryo UI"/>
                <a:ea typeface="Meiryo UI"/>
              </a:rPr>
              <a:t>主担当: engineer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44584" y="1051560"/>
            <a:ext cx="2176272" cy="384048"/>
          </a:xfrm>
          <a:prstGeom prst="rect">
            <a:avLst/>
          </a:prstGeom>
          <a:solidFill>
            <a:srgbClr val="00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44584" y="1051560"/>
            <a:ext cx="21762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Meiryo UI"/>
                <a:ea typeface="Meiryo UI"/>
              </a:rPr>
              <a:t>F4　L2拡張（条件付き）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44584" y="1435608"/>
            <a:ext cx="2176272" cy="1417320"/>
          </a:xfrm>
          <a:prstGeom prst="rect">
            <a:avLst/>
          </a:prstGeom>
          <a:solidFill>
            <a:srgbClr val="F4F5F6"/>
          </a:solidFill>
          <a:ln w="9525">
            <a:solidFill>
              <a:srgbClr val="C7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17736" y="1508760"/>
            <a:ext cx="204825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0" i="0">
                <a:solidFill>
                  <a:srgbClr val="333333"/>
                </a:solidFill>
                <a:latin typeface="Meiryo UI"/>
                <a:ea typeface="Meiryo UI"/>
              </a:rPr>
              <a:t>F0結果に応じAI-6メタデータ自動付与／AI-2 Copilotアシスタント／AI-5申請自動化を段階投入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7736" y="2624328"/>
            <a:ext cx="2048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0" i="0">
                <a:solidFill>
                  <a:srgbClr val="666666"/>
                </a:solidFill>
                <a:latin typeface="Meiryo UI"/>
                <a:ea typeface="Meiryo UI"/>
              </a:rPr>
              <a:t>主担当: engineer／qa-reviewer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32304" y="1106424"/>
            <a:ext cx="118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B81C"/>
                </a:solidFill>
                <a:latin typeface="Meiryo UI"/>
                <a:ea typeface="Meiryo U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1106424"/>
            <a:ext cx="118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B81C"/>
                </a:solidFill>
                <a:latin typeface="Meiryo UI"/>
                <a:ea typeface="Meiryo U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94576" y="1106424"/>
            <a:ext cx="118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B81C"/>
                </a:solidFill>
                <a:latin typeface="Meiryo UI"/>
                <a:ea typeface="Meiryo UI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5712" y="1106424"/>
            <a:ext cx="118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B81C"/>
                </a:solidFill>
                <a:latin typeface="Meiryo UI"/>
                <a:ea typeface="Meiryo UI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283464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666666"/>
                </a:solidFill>
                <a:latin typeface="Meiryo UI"/>
                <a:ea typeface="Meiryo UI"/>
              </a:rPr>
              <a:t>F0はF1より先（何が作れるか未確定のまま設計に入らない）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3246120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1F33"/>
                </a:solidFill>
                <a:latin typeface="Meiryo UI"/>
                <a:ea typeface="Meiryo UI"/>
              </a:rPr>
              <a:t>社長にご判断・ご確認いただきたい点（3点）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3520440"/>
            <a:ext cx="914400" cy="822960"/>
          </a:xfrm>
          <a:prstGeom prst="rect">
            <a:avLst/>
          </a:prstGeom>
          <a:solidFill>
            <a:srgbClr val="00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3520440"/>
            <a:ext cx="914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Meiryo UI"/>
                <a:ea typeface="Meiryo UI"/>
              </a:rPr>
              <a:t>【要判断】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3520440"/>
            <a:ext cx="10332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33333"/>
                </a:solidFill>
                <a:latin typeface="Meiryo UI"/>
                <a:ea typeface="Meiryo UI"/>
              </a:rPr>
              <a:t>MVPをL1の4点に絞って先行してよいか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5880" y="374904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666666"/>
                </a:solidFill>
                <a:latin typeface="Meiryo UI"/>
                <a:ea typeface="Meiryo UI"/>
              </a:rPr>
              <a:t>直リンク化(CA-1)＋ブランドライブラリ再構成(B-1/B-2)＋Microsoft Search(G-2)＋メタデータ設計の4点を先行する案。推奨：絞る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453128"/>
            <a:ext cx="914400" cy="822960"/>
          </a:xfrm>
          <a:prstGeom prst="rect">
            <a:avLst/>
          </a:prstGeom>
          <a:solidFill>
            <a:srgbClr val="00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4453128"/>
            <a:ext cx="914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Meiryo UI"/>
                <a:ea typeface="Meiryo UI"/>
              </a:rPr>
              <a:t>【要確認】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25880" y="4453128"/>
            <a:ext cx="10332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33333"/>
                </a:solidFill>
                <a:latin typeface="Meiryo UI"/>
                <a:ea typeface="Meiryo UI"/>
              </a:rPr>
              <a:t>テナントのライセンス実態の確認（IT窓口の特定）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25880" y="468172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666666"/>
                </a:solidFill>
                <a:latin typeface="Meiryo UI"/>
                <a:ea typeface="Meiryo UI"/>
              </a:rPr>
              <a:t>M365 Copilot／Copilot Studio／SharePoint Premium／Power Platformプレミアムの保有・付与範囲。未確定だとAI6機能の可否が決まらない（最大のブロッカー）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385816"/>
            <a:ext cx="914400" cy="365760"/>
          </a:xfrm>
          <a:prstGeom prst="rect">
            <a:avLst/>
          </a:prstGeom>
          <a:solidFill>
            <a:srgbClr val="00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5385816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Meiryo UI"/>
                <a:ea typeface="Meiryo UI"/>
              </a:rPr>
              <a:t>【要判断】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25880" y="5385816"/>
            <a:ext cx="10332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33333"/>
                </a:solidFill>
                <a:latin typeface="Meiryo UI"/>
                <a:ea typeface="Meiryo UI"/>
              </a:rPr>
              <a:t>クイックウィン（直リンク化・費用ゼロ・L1）をF0完了を待たず先行着手してよいか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59282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66666"/>
                </a:solidFill>
                <a:latin typeface="Meiryo UI"/>
                <a:ea typeface="Meiryo UI"/>
              </a:rPr>
              <a:t>社外秘（Confidential）— AKKODiSコンサルティング株式会社 マーケティング部内限り｜次ステップ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521440" y="659282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666666"/>
                </a:solidFill>
                <a:latin typeface="Meiryo UI"/>
                <a:ea typeface="Meiryo U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